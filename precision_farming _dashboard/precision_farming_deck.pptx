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6" r:id="rId11"/>
    <p:sldId id="265"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5" d="100"/>
          <a:sy n="85" d="100"/>
        </p:scale>
        <p:origin x="56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39353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033"/>
        </a:solidFill>
        <a:effectLst/>
      </p:bgPr>
    </p:bg>
    <p:spTree>
      <p:nvGrpSpPr>
        <p:cNvPr id="1" name=""/>
        <p:cNvGrpSpPr/>
        <p:nvPr/>
      </p:nvGrpSpPr>
      <p:grpSpPr>
        <a:xfrm>
          <a:off x="0" y="0"/>
          <a:ext cx="0" cy="0"/>
          <a:chOff x="0" y="0"/>
          <a:chExt cx="0" cy="0"/>
        </a:xfrm>
      </p:grpSpPr>
      <p:sp>
        <p:nvSpPr>
          <p:cNvPr id="2" name="Shape 0"/>
          <p:cNvSpPr/>
          <p:nvPr/>
        </p:nvSpPr>
        <p:spPr>
          <a:xfrm>
            <a:off x="8961120" y="3657600"/>
            <a:ext cx="4754880" cy="4754880"/>
          </a:xfrm>
          <a:prstGeom prst="ellipse">
            <a:avLst/>
          </a:prstGeom>
          <a:solidFill>
            <a:srgbClr val="6B8F42">
              <a:alpha val="10000"/>
            </a:srgbClr>
          </a:solidFill>
          <a:ln/>
        </p:spPr>
      </p:sp>
      <p:sp>
        <p:nvSpPr>
          <p:cNvPr id="3" name="Shape 1"/>
          <p:cNvSpPr/>
          <p:nvPr/>
        </p:nvSpPr>
        <p:spPr>
          <a:xfrm>
            <a:off x="9144000" y="5212080"/>
            <a:ext cx="2926080" cy="2926080"/>
          </a:xfrm>
          <a:prstGeom prst="ellipse">
            <a:avLst/>
          </a:prstGeom>
          <a:solidFill>
            <a:srgbClr val="6B8F42">
              <a:alpha val="14000"/>
            </a:srgbClr>
          </a:solidFill>
          <a:ln/>
        </p:spPr>
      </p:sp>
      <p:sp>
        <p:nvSpPr>
          <p:cNvPr id="4" name="Shape 2"/>
          <p:cNvSpPr/>
          <p:nvPr/>
        </p:nvSpPr>
        <p:spPr>
          <a:xfrm>
            <a:off x="10789920" y="4114800"/>
            <a:ext cx="2011680" cy="2011680"/>
          </a:xfrm>
          <a:prstGeom prst="ellipse">
            <a:avLst/>
          </a:prstGeom>
          <a:solidFill>
            <a:srgbClr val="6B8F42">
              <a:alpha val="16000"/>
            </a:srgbClr>
          </a:solidFill>
          <a:ln/>
        </p:spPr>
      </p:sp>
      <p:sp>
        <p:nvSpPr>
          <p:cNvPr id="5" name="Text 3"/>
          <p:cNvSpPr/>
          <p:nvPr/>
        </p:nvSpPr>
        <p:spPr>
          <a:xfrm>
            <a:off x="822960" y="2331720"/>
            <a:ext cx="9601200" cy="365760"/>
          </a:xfrm>
          <a:prstGeom prst="rect">
            <a:avLst/>
          </a:prstGeom>
          <a:noFill/>
          <a:ln/>
        </p:spPr>
        <p:txBody>
          <a:bodyPr wrap="square" rtlCol="0" anchor="ctr"/>
          <a:lstStyle/>
          <a:p>
            <a:pPr marL="0" indent="0">
              <a:buNone/>
            </a:pPr>
            <a:r>
              <a:rPr lang="en-US" sz="1300" b="1" kern="0" spc="300" dirty="0">
                <a:solidFill>
                  <a:srgbClr val="D9A441"/>
                </a:solidFill>
                <a:latin typeface="Calibri" pitchFamily="34" charset="0"/>
                <a:ea typeface="Calibri" pitchFamily="34" charset="-122"/>
                <a:cs typeface="Calibri" pitchFamily="34" charset="-120"/>
              </a:rPr>
              <a:t>PRECISION FARMING INTELLIGENCE</a:t>
            </a:r>
            <a:endParaRPr lang="en-US" sz="1300" dirty="0"/>
          </a:p>
        </p:txBody>
      </p:sp>
      <p:sp>
        <p:nvSpPr>
          <p:cNvPr id="6" name="Text 4"/>
          <p:cNvSpPr/>
          <p:nvPr/>
        </p:nvSpPr>
        <p:spPr>
          <a:xfrm>
            <a:off x="777240" y="2697480"/>
            <a:ext cx="10058400" cy="1371600"/>
          </a:xfrm>
          <a:prstGeom prst="rect">
            <a:avLst/>
          </a:prstGeom>
          <a:noFill/>
          <a:ln/>
        </p:spPr>
        <p:txBody>
          <a:bodyPr wrap="square"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Executive Precision Farming Dashboard</a:t>
            </a:r>
            <a:endParaRPr lang="en-US" sz="4200" dirty="0"/>
          </a:p>
        </p:txBody>
      </p:sp>
      <p:sp>
        <p:nvSpPr>
          <p:cNvPr id="7" name="Text 5"/>
          <p:cNvSpPr/>
          <p:nvPr/>
        </p:nvSpPr>
        <p:spPr>
          <a:xfrm>
            <a:off x="822960" y="3794760"/>
            <a:ext cx="8686800" cy="457200"/>
          </a:xfrm>
          <a:prstGeom prst="rect">
            <a:avLst/>
          </a:prstGeom>
          <a:noFill/>
          <a:ln/>
        </p:spPr>
        <p:txBody>
          <a:bodyPr wrap="square" rtlCol="0" anchor="ctr"/>
          <a:lstStyle/>
          <a:p>
            <a:pPr marL="0" indent="0">
              <a:buNone/>
            </a:pPr>
            <a:r>
              <a:rPr lang="en-US" sz="1600" i="1" dirty="0">
                <a:solidFill>
                  <a:srgbClr val="CADCE8"/>
                </a:solidFill>
                <a:latin typeface="Calibri" pitchFamily="34" charset="0"/>
                <a:ea typeface="Calibri" pitchFamily="34" charset="-122"/>
                <a:cs typeface="Calibri" pitchFamily="34" charset="-120"/>
              </a:rPr>
              <a:t>District-level yield, land use, nutrient efficiency and climate response</a:t>
            </a:r>
            <a:endParaRPr lang="en-US" sz="1600" dirty="0"/>
          </a:p>
        </p:txBody>
      </p:sp>
      <p:sp>
        <p:nvSpPr>
          <p:cNvPr id="8" name="Text 6"/>
          <p:cNvSpPr/>
          <p:nvPr/>
        </p:nvSpPr>
        <p:spPr>
          <a:xfrm>
            <a:off x="822960" y="5989320"/>
            <a:ext cx="7315200" cy="320040"/>
          </a:xfrm>
          <a:prstGeom prst="rect">
            <a:avLst/>
          </a:prstGeom>
          <a:noFill/>
          <a:ln/>
        </p:spPr>
        <p:txBody>
          <a:bodyPr wrap="square" rtlCol="0" anchor="ctr"/>
          <a:lstStyle/>
          <a:p>
            <a:pPr marL="0" indent="0">
              <a:buNone/>
            </a:pPr>
            <a:r>
              <a:rPr lang="en-US" sz="1100" dirty="0">
                <a:solidFill>
                  <a:srgbClr val="8FA6B8"/>
                </a:solidFill>
                <a:latin typeface="Calibri" pitchFamily="34" charset="0"/>
                <a:ea typeface="Calibri" pitchFamily="34" charset="-122"/>
                <a:cs typeface="Calibri" pitchFamily="34" charset="-120"/>
              </a:rPr>
              <a:t>8 analytical views  •  1 executive dashboard  •  10 findings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3"/>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200" b="1" kern="0" spc="200" dirty="0">
                <a:solidFill>
                  <a:srgbClr val="6B8F42"/>
                </a:solidFill>
                <a:latin typeface="Calibri" pitchFamily="34" charset="0"/>
                <a:ea typeface="Calibri" pitchFamily="34" charset="-122"/>
                <a:cs typeface="Calibri" pitchFamily="34" charset="-120"/>
              </a:rPr>
              <a:t>PRECISION FARMING ANALYTICS</a:t>
            </a:r>
            <a:endParaRPr lang="en-US" sz="1200" dirty="0"/>
          </a:p>
        </p:txBody>
      </p:sp>
      <p:sp>
        <p:nvSpPr>
          <p:cNvPr id="3" name="Text 1"/>
          <p:cNvSpPr/>
          <p:nvPr/>
        </p:nvSpPr>
        <p:spPr>
          <a:xfrm>
            <a:off x="548640" y="621792"/>
            <a:ext cx="10515600" cy="640080"/>
          </a:xfrm>
          <a:prstGeom prst="rect">
            <a:avLst/>
          </a:prstGeom>
          <a:noFill/>
          <a:ln/>
        </p:spPr>
        <p:txBody>
          <a:bodyPr wrap="square" rtlCol="0" anchor="ctr"/>
          <a:lstStyle/>
          <a:p>
            <a:pPr marL="0" indent="0">
              <a:buNone/>
            </a:pPr>
            <a:r>
              <a:rPr lang="en-US" sz="3000" b="1" dirty="0">
                <a:solidFill>
                  <a:srgbClr val="17324D"/>
                </a:solidFill>
                <a:latin typeface="Cambria" pitchFamily="34" charset="0"/>
                <a:ea typeface="Cambria" pitchFamily="34" charset="-122"/>
                <a:cs typeface="Cambria" pitchFamily="34" charset="-120"/>
              </a:rPr>
              <a:t>About the dataset</a:t>
            </a:r>
            <a:endParaRPr lang="en-US" sz="3000" dirty="0"/>
          </a:p>
        </p:txBody>
      </p:sp>
      <p:sp>
        <p:nvSpPr>
          <p:cNvPr id="4" name="Text 2"/>
          <p:cNvSpPr/>
          <p:nvPr/>
        </p:nvSpPr>
        <p:spPr>
          <a:xfrm>
            <a:off x="548640" y="1371600"/>
            <a:ext cx="5577840" cy="1371600"/>
          </a:xfrm>
          <a:prstGeom prst="rect">
            <a:avLst/>
          </a:prstGeom>
          <a:noFill/>
          <a:ln/>
        </p:spPr>
        <p:txBody>
          <a:bodyPr wrap="square" rtlCol="0" anchor="t"/>
          <a:lstStyle/>
          <a:p>
            <a:pPr marL="0" indent="0">
              <a:buNone/>
            </a:pPr>
            <a:r>
              <a:rPr lang="en-US" sz="1300" dirty="0">
                <a:solidFill>
                  <a:srgbClr val="23303A"/>
                </a:solidFill>
                <a:latin typeface="Calibri" pitchFamily="34" charset="0"/>
                <a:ea typeface="Calibri" pitchFamily="34" charset="-122"/>
                <a:cs typeface="Calibri" pitchFamily="34" charset="-120"/>
              </a:rPr>
              <a:t>The dashboard combines eight views around one dataset: district-year crop records covering area, yield, rainfall, temperature, soil pH and NPK application. A metric-selector parameter lets a viewer pivot the headline KPI between yield, production, rainfall, temperature, area and NPK usage.</a:t>
            </a:r>
            <a:endParaRPr lang="en-US" sz="1300" dirty="0"/>
          </a:p>
        </p:txBody>
      </p:sp>
      <p:sp>
        <p:nvSpPr>
          <p:cNvPr id="5" name="Shape 3"/>
          <p:cNvSpPr/>
          <p:nvPr/>
        </p:nvSpPr>
        <p:spPr>
          <a:xfrm>
            <a:off x="548640" y="2926080"/>
            <a:ext cx="2491740" cy="1417320"/>
          </a:xfrm>
          <a:prstGeom prst="roundRect">
            <a:avLst>
              <a:gd name="adj" fmla="val 5161"/>
            </a:avLst>
          </a:prstGeom>
          <a:solidFill>
            <a:srgbClr val="FFFFFF"/>
          </a:solidFill>
          <a:ln w="12700">
            <a:solidFill>
              <a:srgbClr val="D7DFE8"/>
            </a:solidFill>
            <a:prstDash val="solid"/>
          </a:ln>
        </p:spPr>
      </p:sp>
      <p:sp>
        <p:nvSpPr>
          <p:cNvPr id="6" name="Shape 4"/>
          <p:cNvSpPr/>
          <p:nvPr/>
        </p:nvSpPr>
        <p:spPr>
          <a:xfrm>
            <a:off x="749808" y="3246120"/>
            <a:ext cx="777240" cy="777240"/>
          </a:xfrm>
          <a:prstGeom prst="ellipse">
            <a:avLst/>
          </a:prstGeom>
          <a:solidFill>
            <a:srgbClr val="EAF0E6"/>
          </a:solidFill>
          <a:ln/>
        </p:spPr>
      </p:sp>
      <p:sp>
        <p:nvSpPr>
          <p:cNvPr id="7" name="Text 5"/>
          <p:cNvSpPr/>
          <p:nvPr/>
        </p:nvSpPr>
        <p:spPr>
          <a:xfrm>
            <a:off x="749808" y="3246120"/>
            <a:ext cx="777240" cy="77724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8" name="Text 6"/>
          <p:cNvSpPr/>
          <p:nvPr/>
        </p:nvSpPr>
        <p:spPr>
          <a:xfrm>
            <a:off x="1691640" y="3108960"/>
            <a:ext cx="1234440" cy="502920"/>
          </a:xfrm>
          <a:prstGeom prst="rect">
            <a:avLst/>
          </a:prstGeom>
          <a:noFill/>
          <a:ln/>
        </p:spPr>
        <p:txBody>
          <a:bodyPr wrap="square" rtlCol="0" anchor="ctr"/>
          <a:lstStyle/>
          <a:p>
            <a:pPr marL="0" indent="0">
              <a:buNone/>
            </a:pPr>
            <a:r>
              <a:rPr lang="en-US" sz="1800" b="1" dirty="0">
                <a:solidFill>
                  <a:srgbClr val="17324D"/>
                </a:solidFill>
                <a:latin typeface="Cambria" pitchFamily="34" charset="0"/>
                <a:ea typeface="Cambria" pitchFamily="34" charset="-122"/>
                <a:cs typeface="Cambria" pitchFamily="34" charset="-120"/>
              </a:rPr>
              <a:t>18.4M t</a:t>
            </a:r>
            <a:endParaRPr lang="en-US" sz="1800" dirty="0"/>
          </a:p>
        </p:txBody>
      </p:sp>
      <p:sp>
        <p:nvSpPr>
          <p:cNvPr id="9" name="Text 7"/>
          <p:cNvSpPr/>
          <p:nvPr/>
        </p:nvSpPr>
        <p:spPr>
          <a:xfrm>
            <a:off x="1691640" y="3611880"/>
            <a:ext cx="1234440" cy="320040"/>
          </a:xfrm>
          <a:prstGeom prst="rect">
            <a:avLst/>
          </a:prstGeom>
          <a:noFill/>
          <a:ln/>
        </p:spPr>
        <p:txBody>
          <a:bodyPr wrap="square" rtlCol="0" anchor="ctr"/>
          <a:lstStyle/>
          <a:p>
            <a:pPr marL="0" indent="0">
              <a:buNone/>
            </a:pPr>
            <a:r>
              <a:rPr lang="en-US" sz="1150" dirty="0">
                <a:solidFill>
                  <a:srgbClr val="6E7B85"/>
                </a:solidFill>
                <a:latin typeface="Calibri" pitchFamily="34" charset="0"/>
                <a:ea typeface="Calibri" pitchFamily="34" charset="-122"/>
                <a:cs typeface="Calibri" pitchFamily="34" charset="-120"/>
              </a:rPr>
              <a:t>Total Production</a:t>
            </a:r>
            <a:endParaRPr lang="en-US" sz="1150" dirty="0"/>
          </a:p>
        </p:txBody>
      </p:sp>
      <p:sp>
        <p:nvSpPr>
          <p:cNvPr id="10" name="Shape 8"/>
          <p:cNvSpPr/>
          <p:nvPr/>
        </p:nvSpPr>
        <p:spPr>
          <a:xfrm>
            <a:off x="3268980" y="2926080"/>
            <a:ext cx="2491740" cy="1417320"/>
          </a:xfrm>
          <a:prstGeom prst="roundRect">
            <a:avLst>
              <a:gd name="adj" fmla="val 5161"/>
            </a:avLst>
          </a:prstGeom>
          <a:solidFill>
            <a:srgbClr val="FFFFFF"/>
          </a:solidFill>
          <a:ln w="12700">
            <a:solidFill>
              <a:srgbClr val="D7DFE8"/>
            </a:solidFill>
            <a:prstDash val="solid"/>
          </a:ln>
        </p:spPr>
      </p:sp>
      <p:sp>
        <p:nvSpPr>
          <p:cNvPr id="11" name="Shape 9"/>
          <p:cNvSpPr/>
          <p:nvPr/>
        </p:nvSpPr>
        <p:spPr>
          <a:xfrm>
            <a:off x="3470148" y="3246120"/>
            <a:ext cx="777240" cy="777240"/>
          </a:xfrm>
          <a:prstGeom prst="ellipse">
            <a:avLst/>
          </a:prstGeom>
          <a:solidFill>
            <a:srgbClr val="EAF0E6"/>
          </a:solidFill>
          <a:ln/>
        </p:spPr>
      </p:sp>
      <p:sp>
        <p:nvSpPr>
          <p:cNvPr id="12" name="Text 10"/>
          <p:cNvSpPr/>
          <p:nvPr/>
        </p:nvSpPr>
        <p:spPr>
          <a:xfrm>
            <a:off x="3470148" y="3246120"/>
            <a:ext cx="777240" cy="77724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13" name="Text 11"/>
          <p:cNvSpPr/>
          <p:nvPr/>
        </p:nvSpPr>
        <p:spPr>
          <a:xfrm>
            <a:off x="4411980" y="3108960"/>
            <a:ext cx="1234440" cy="502920"/>
          </a:xfrm>
          <a:prstGeom prst="rect">
            <a:avLst/>
          </a:prstGeom>
          <a:noFill/>
          <a:ln/>
        </p:spPr>
        <p:txBody>
          <a:bodyPr wrap="square" rtlCol="0" anchor="ctr"/>
          <a:lstStyle/>
          <a:p>
            <a:pPr marL="0" indent="0">
              <a:buNone/>
            </a:pPr>
            <a:r>
              <a:rPr lang="en-US" sz="1800" b="1" dirty="0">
                <a:solidFill>
                  <a:srgbClr val="17324D"/>
                </a:solidFill>
                <a:latin typeface="Cambria" pitchFamily="34" charset="0"/>
                <a:ea typeface="Cambria" pitchFamily="34" charset="-122"/>
                <a:cs typeface="Cambria" pitchFamily="34" charset="-120"/>
              </a:rPr>
              <a:t>2,340 kg/ha</a:t>
            </a:r>
            <a:endParaRPr lang="en-US" sz="1800" dirty="0"/>
          </a:p>
        </p:txBody>
      </p:sp>
      <p:sp>
        <p:nvSpPr>
          <p:cNvPr id="14" name="Text 12"/>
          <p:cNvSpPr/>
          <p:nvPr/>
        </p:nvSpPr>
        <p:spPr>
          <a:xfrm>
            <a:off x="4411980" y="3611880"/>
            <a:ext cx="1234440" cy="320040"/>
          </a:xfrm>
          <a:prstGeom prst="rect">
            <a:avLst/>
          </a:prstGeom>
          <a:noFill/>
          <a:ln/>
        </p:spPr>
        <p:txBody>
          <a:bodyPr wrap="square" rtlCol="0" anchor="ctr"/>
          <a:lstStyle/>
          <a:p>
            <a:pPr marL="0" indent="0">
              <a:buNone/>
            </a:pPr>
            <a:r>
              <a:rPr lang="en-US" sz="1150" dirty="0">
                <a:solidFill>
                  <a:srgbClr val="6E7B85"/>
                </a:solidFill>
                <a:latin typeface="Calibri" pitchFamily="34" charset="0"/>
                <a:ea typeface="Calibri" pitchFamily="34" charset="-122"/>
                <a:cs typeface="Calibri" pitchFamily="34" charset="-120"/>
              </a:rPr>
              <a:t>Avg. Yield</a:t>
            </a:r>
            <a:endParaRPr lang="en-US" sz="1150" dirty="0"/>
          </a:p>
        </p:txBody>
      </p:sp>
      <p:sp>
        <p:nvSpPr>
          <p:cNvPr id="15" name="Shape 13"/>
          <p:cNvSpPr/>
          <p:nvPr/>
        </p:nvSpPr>
        <p:spPr>
          <a:xfrm>
            <a:off x="548640" y="4572000"/>
            <a:ext cx="2491740" cy="1417320"/>
          </a:xfrm>
          <a:prstGeom prst="roundRect">
            <a:avLst>
              <a:gd name="adj" fmla="val 5161"/>
            </a:avLst>
          </a:prstGeom>
          <a:solidFill>
            <a:srgbClr val="FFFFFF"/>
          </a:solidFill>
          <a:ln w="12700">
            <a:solidFill>
              <a:srgbClr val="D7DFE8"/>
            </a:solidFill>
            <a:prstDash val="solid"/>
          </a:ln>
        </p:spPr>
      </p:sp>
      <p:sp>
        <p:nvSpPr>
          <p:cNvPr id="16" name="Shape 14"/>
          <p:cNvSpPr/>
          <p:nvPr/>
        </p:nvSpPr>
        <p:spPr>
          <a:xfrm>
            <a:off x="749808" y="4892040"/>
            <a:ext cx="777240" cy="777240"/>
          </a:xfrm>
          <a:prstGeom prst="ellipse">
            <a:avLst/>
          </a:prstGeom>
          <a:solidFill>
            <a:srgbClr val="EAF0E6"/>
          </a:solidFill>
          <a:ln/>
        </p:spPr>
      </p:sp>
      <p:sp>
        <p:nvSpPr>
          <p:cNvPr id="17" name="Text 15"/>
          <p:cNvSpPr/>
          <p:nvPr/>
        </p:nvSpPr>
        <p:spPr>
          <a:xfrm>
            <a:off x="749808" y="4892040"/>
            <a:ext cx="777240" cy="77724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18" name="Text 16"/>
          <p:cNvSpPr/>
          <p:nvPr/>
        </p:nvSpPr>
        <p:spPr>
          <a:xfrm>
            <a:off x="1691640" y="4754880"/>
            <a:ext cx="1234440" cy="502920"/>
          </a:xfrm>
          <a:prstGeom prst="rect">
            <a:avLst/>
          </a:prstGeom>
          <a:noFill/>
          <a:ln/>
        </p:spPr>
        <p:txBody>
          <a:bodyPr wrap="square" rtlCol="0" anchor="ctr"/>
          <a:lstStyle/>
          <a:p>
            <a:pPr marL="0" indent="0">
              <a:buNone/>
            </a:pPr>
            <a:r>
              <a:rPr lang="en-US" sz="1800" b="1" dirty="0">
                <a:solidFill>
                  <a:srgbClr val="17324D"/>
                </a:solidFill>
                <a:latin typeface="Cambria" pitchFamily="34" charset="0"/>
                <a:ea typeface="Cambria" pitchFamily="34" charset="-122"/>
                <a:cs typeface="Cambria" pitchFamily="34" charset="-120"/>
              </a:rPr>
              <a:t>7.9M ha</a:t>
            </a:r>
            <a:endParaRPr lang="en-US" sz="1800" dirty="0"/>
          </a:p>
        </p:txBody>
      </p:sp>
      <p:sp>
        <p:nvSpPr>
          <p:cNvPr id="19" name="Text 17"/>
          <p:cNvSpPr/>
          <p:nvPr/>
        </p:nvSpPr>
        <p:spPr>
          <a:xfrm>
            <a:off x="1691640" y="5257800"/>
            <a:ext cx="1234440" cy="320040"/>
          </a:xfrm>
          <a:prstGeom prst="rect">
            <a:avLst/>
          </a:prstGeom>
          <a:noFill/>
          <a:ln/>
        </p:spPr>
        <p:txBody>
          <a:bodyPr wrap="square" rtlCol="0" anchor="ctr"/>
          <a:lstStyle/>
          <a:p>
            <a:pPr marL="0" indent="0">
              <a:buNone/>
            </a:pPr>
            <a:r>
              <a:rPr lang="en-US" sz="1150" dirty="0">
                <a:solidFill>
                  <a:srgbClr val="6E7B85"/>
                </a:solidFill>
                <a:latin typeface="Calibri" pitchFamily="34" charset="0"/>
                <a:ea typeface="Calibri" pitchFamily="34" charset="-122"/>
                <a:cs typeface="Calibri" pitchFamily="34" charset="-120"/>
              </a:rPr>
              <a:t>Total Area</a:t>
            </a:r>
            <a:endParaRPr lang="en-US" sz="1150" dirty="0"/>
          </a:p>
        </p:txBody>
      </p:sp>
      <p:sp>
        <p:nvSpPr>
          <p:cNvPr id="20" name="Shape 18"/>
          <p:cNvSpPr/>
          <p:nvPr/>
        </p:nvSpPr>
        <p:spPr>
          <a:xfrm>
            <a:off x="3268980" y="4572000"/>
            <a:ext cx="2491740" cy="1417320"/>
          </a:xfrm>
          <a:prstGeom prst="roundRect">
            <a:avLst>
              <a:gd name="adj" fmla="val 5161"/>
            </a:avLst>
          </a:prstGeom>
          <a:solidFill>
            <a:srgbClr val="FFFFFF"/>
          </a:solidFill>
          <a:ln w="12700">
            <a:solidFill>
              <a:srgbClr val="D7DFE8"/>
            </a:solidFill>
            <a:prstDash val="solid"/>
          </a:ln>
        </p:spPr>
      </p:sp>
      <p:sp>
        <p:nvSpPr>
          <p:cNvPr id="21" name="Shape 19"/>
          <p:cNvSpPr/>
          <p:nvPr/>
        </p:nvSpPr>
        <p:spPr>
          <a:xfrm>
            <a:off x="3470148" y="4892040"/>
            <a:ext cx="777240" cy="777240"/>
          </a:xfrm>
          <a:prstGeom prst="ellipse">
            <a:avLst/>
          </a:prstGeom>
          <a:solidFill>
            <a:srgbClr val="EAF0E6"/>
          </a:solidFill>
          <a:ln/>
        </p:spPr>
      </p:sp>
      <p:sp>
        <p:nvSpPr>
          <p:cNvPr id="22" name="Text 20"/>
          <p:cNvSpPr/>
          <p:nvPr/>
        </p:nvSpPr>
        <p:spPr>
          <a:xfrm>
            <a:off x="3470148" y="4892040"/>
            <a:ext cx="777240" cy="77724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23" name="Text 21"/>
          <p:cNvSpPr/>
          <p:nvPr/>
        </p:nvSpPr>
        <p:spPr>
          <a:xfrm>
            <a:off x="4411980" y="4754880"/>
            <a:ext cx="1234440" cy="502920"/>
          </a:xfrm>
          <a:prstGeom prst="rect">
            <a:avLst/>
          </a:prstGeom>
          <a:noFill/>
          <a:ln/>
        </p:spPr>
        <p:txBody>
          <a:bodyPr wrap="square" rtlCol="0" anchor="ctr"/>
          <a:lstStyle/>
          <a:p>
            <a:pPr marL="0" indent="0">
              <a:buNone/>
            </a:pPr>
            <a:r>
              <a:rPr lang="en-US" sz="1800" b="1" dirty="0">
                <a:solidFill>
                  <a:srgbClr val="17324D"/>
                </a:solidFill>
                <a:latin typeface="Cambria" pitchFamily="34" charset="0"/>
                <a:ea typeface="Cambria" pitchFamily="34" charset="-122"/>
                <a:cs typeface="Cambria" pitchFamily="34" charset="-120"/>
              </a:rPr>
              <a:t>146 kg NPK/ha</a:t>
            </a:r>
            <a:endParaRPr lang="en-US" sz="1800" dirty="0"/>
          </a:p>
        </p:txBody>
      </p:sp>
      <p:sp>
        <p:nvSpPr>
          <p:cNvPr id="24" name="Text 22"/>
          <p:cNvSpPr/>
          <p:nvPr/>
        </p:nvSpPr>
        <p:spPr>
          <a:xfrm>
            <a:off x="4411980" y="5257800"/>
            <a:ext cx="1234440" cy="320040"/>
          </a:xfrm>
          <a:prstGeom prst="rect">
            <a:avLst/>
          </a:prstGeom>
          <a:noFill/>
          <a:ln/>
        </p:spPr>
        <p:txBody>
          <a:bodyPr wrap="square" rtlCol="0" anchor="ctr"/>
          <a:lstStyle/>
          <a:p>
            <a:pPr marL="0" indent="0">
              <a:buNone/>
            </a:pPr>
            <a:r>
              <a:rPr lang="en-US" sz="1150" dirty="0">
                <a:solidFill>
                  <a:srgbClr val="6E7B85"/>
                </a:solidFill>
                <a:latin typeface="Calibri" pitchFamily="34" charset="0"/>
                <a:ea typeface="Calibri" pitchFamily="34" charset="-122"/>
                <a:cs typeface="Calibri" pitchFamily="34" charset="-120"/>
              </a:rPr>
              <a:t>Input Efficiency</a:t>
            </a:r>
            <a:endParaRPr lang="en-US" sz="1150" dirty="0"/>
          </a:p>
        </p:txBody>
      </p:sp>
      <p:sp>
        <p:nvSpPr>
          <p:cNvPr id="25" name="Text 23"/>
          <p:cNvSpPr/>
          <p:nvPr/>
        </p:nvSpPr>
        <p:spPr>
          <a:xfrm>
            <a:off x="548640" y="6035040"/>
            <a:ext cx="5212080" cy="228600"/>
          </a:xfrm>
          <a:prstGeom prst="rect">
            <a:avLst/>
          </a:prstGeom>
          <a:noFill/>
          <a:ln/>
        </p:spPr>
        <p:txBody>
          <a:bodyPr wrap="square" rtlCol="0" anchor="ctr"/>
          <a:lstStyle/>
          <a:p>
            <a:pPr marL="0" indent="0" algn="r">
              <a:buNone/>
            </a:pPr>
            <a:r>
              <a:rPr lang="en-US" sz="900" i="1" dirty="0">
                <a:solidFill>
                  <a:srgbClr val="6E7B85"/>
                </a:solidFill>
                <a:latin typeface="Calibri" pitchFamily="34" charset="0"/>
                <a:ea typeface="Calibri" pitchFamily="34" charset="-122"/>
                <a:cs typeface="Calibri" pitchFamily="34" charset="-120"/>
              </a:rPr>
              <a:t>Illustrative sample data — replace with your extract</a:t>
            </a:r>
            <a:endParaRPr lang="en-US" sz="900" dirty="0"/>
          </a:p>
        </p:txBody>
      </p:sp>
      <p:sp>
        <p:nvSpPr>
          <p:cNvPr id="26" name="Shape 24"/>
          <p:cNvSpPr/>
          <p:nvPr/>
        </p:nvSpPr>
        <p:spPr>
          <a:xfrm>
            <a:off x="6309360" y="1371600"/>
            <a:ext cx="5349240" cy="4846320"/>
          </a:xfrm>
          <a:prstGeom prst="roundRect">
            <a:avLst>
              <a:gd name="adj" fmla="val 1509"/>
            </a:avLst>
          </a:prstGeom>
          <a:solidFill>
            <a:srgbClr val="FFFFFF"/>
          </a:solidFill>
          <a:ln w="12700">
            <a:solidFill>
              <a:srgbClr val="D7DFE8"/>
            </a:solidFill>
            <a:prstDash val="solid"/>
          </a:ln>
          <a:effectLst>
            <a:outerShdw blurRad="76200" dist="25400" dir="5400000" algn="bl" rotWithShape="0">
              <a:srgbClr val="9FB0BE">
                <a:alpha val="25000"/>
              </a:srgbClr>
            </a:outerShdw>
          </a:effectLst>
        </p:spPr>
      </p:sp>
      <p:sp>
        <p:nvSpPr>
          <p:cNvPr id="27" name="Text 25"/>
          <p:cNvSpPr/>
          <p:nvPr/>
        </p:nvSpPr>
        <p:spPr>
          <a:xfrm>
            <a:off x="6583680" y="1600200"/>
            <a:ext cx="4754880" cy="320040"/>
          </a:xfrm>
          <a:prstGeom prst="rect">
            <a:avLst/>
          </a:prstGeom>
          <a:noFill/>
          <a:ln/>
        </p:spPr>
        <p:txBody>
          <a:bodyPr wrap="square" rtlCol="0" anchor="ctr"/>
          <a:lstStyle/>
          <a:p>
            <a:pPr marL="0" indent="0">
              <a:buNone/>
            </a:pPr>
            <a:r>
              <a:rPr lang="en-US" sz="1400" b="1" dirty="0">
                <a:solidFill>
                  <a:srgbClr val="17324D"/>
                </a:solidFill>
                <a:latin typeface="Calibri" pitchFamily="34" charset="0"/>
                <a:ea typeface="Calibri" pitchFamily="34" charset="-122"/>
                <a:cs typeface="Calibri" pitchFamily="34" charset="-120"/>
              </a:rPr>
              <a:t>The Eight Views</a:t>
            </a:r>
            <a:endParaRPr lang="en-US" sz="1400" dirty="0"/>
          </a:p>
        </p:txBody>
      </p:sp>
      <p:sp>
        <p:nvSpPr>
          <p:cNvPr id="28" name="Text 26"/>
          <p:cNvSpPr/>
          <p:nvPr/>
        </p:nvSpPr>
        <p:spPr>
          <a:xfrm>
            <a:off x="6583680" y="2011680"/>
            <a:ext cx="4800600" cy="4023360"/>
          </a:xfrm>
          <a:prstGeom prst="rect">
            <a:avLst/>
          </a:prstGeom>
          <a:noFill/>
          <a:ln/>
        </p:spPr>
        <p:txBody>
          <a:bodyPr wrap="square" rtlCol="0" anchor="t"/>
          <a:lstStyle/>
          <a:p>
            <a:pPr marL="203200" indent="-203200">
              <a:spcAft>
                <a:spcPts val="1000"/>
              </a:spcAft>
              <a:buSzPct val="100000"/>
              <a:buChar char="▪"/>
            </a:pPr>
            <a:r>
              <a:rPr lang="en-US" sz="1250" dirty="0">
                <a:solidFill>
                  <a:srgbClr val="23303A"/>
                </a:solidFill>
                <a:latin typeface="Calibri" pitchFamily="34" charset="0"/>
                <a:ea typeface="Calibri" pitchFamily="34" charset="-122"/>
                <a:cs typeface="Calibri" pitchFamily="34" charset="-120"/>
              </a:rPr>
              <a:t>Production &amp; Yield Trend (dual-axis, by year)</a:t>
            </a:r>
            <a:endParaRPr lang="en-US" sz="1250" dirty="0"/>
          </a:p>
          <a:p>
            <a:pPr marL="203200" indent="-203200">
              <a:spcAft>
                <a:spcPts val="1000"/>
              </a:spcAft>
              <a:buSzPct val="100000"/>
              <a:buChar char="▪"/>
            </a:pPr>
            <a:r>
              <a:rPr lang="en-US" sz="1250" dirty="0">
                <a:solidFill>
                  <a:srgbClr val="23303A"/>
                </a:solidFill>
                <a:latin typeface="Calibri" pitchFamily="34" charset="0"/>
                <a:ea typeface="Calibri" pitchFamily="34" charset="-122"/>
                <a:cs typeface="Calibri" pitchFamily="34" charset="-120"/>
              </a:rPr>
              <a:t>District Pareto Analysis (80/20 concentration)</a:t>
            </a:r>
            <a:endParaRPr lang="en-US" sz="1250" dirty="0"/>
          </a:p>
          <a:p>
            <a:pPr marL="203200" indent="-203200">
              <a:spcAft>
                <a:spcPts val="1000"/>
              </a:spcAft>
              <a:buSzPct val="100000"/>
              <a:buChar char="▪"/>
            </a:pPr>
            <a:r>
              <a:rPr lang="en-US" sz="1250" dirty="0">
                <a:solidFill>
                  <a:srgbClr val="23303A"/>
                </a:solidFill>
                <a:latin typeface="Calibri" pitchFamily="34" charset="0"/>
                <a:ea typeface="Calibri" pitchFamily="34" charset="-122"/>
                <a:cs typeface="Calibri" pitchFamily="34" charset="-120"/>
              </a:rPr>
              <a:t>Regional Input Efficiency (state-level, LOD)</a:t>
            </a:r>
            <a:endParaRPr lang="en-US" sz="1250" dirty="0"/>
          </a:p>
          <a:p>
            <a:pPr marL="203200" indent="-203200">
              <a:spcAft>
                <a:spcPts val="1000"/>
              </a:spcAft>
              <a:buSzPct val="100000"/>
              <a:buChar char="▪"/>
            </a:pPr>
            <a:r>
              <a:rPr lang="en-US" sz="1250" dirty="0">
                <a:solidFill>
                  <a:srgbClr val="23303A"/>
                </a:solidFill>
                <a:latin typeface="Calibri" pitchFamily="34" charset="0"/>
                <a:ea typeface="Calibri" pitchFamily="34" charset="-122"/>
                <a:cs typeface="Calibri" pitchFamily="34" charset="-120"/>
              </a:rPr>
              <a:t>Land Usage Treemap (area by crop &amp; state)</a:t>
            </a:r>
            <a:endParaRPr lang="en-US" sz="1250" dirty="0"/>
          </a:p>
          <a:p>
            <a:pPr marL="203200" indent="-203200">
              <a:spcAft>
                <a:spcPts val="1000"/>
              </a:spcAft>
              <a:buSzPct val="100000"/>
              <a:buChar char="▪"/>
            </a:pPr>
            <a:r>
              <a:rPr lang="en-US" sz="1250" dirty="0">
                <a:solidFill>
                  <a:srgbClr val="23303A"/>
                </a:solidFill>
                <a:latin typeface="Calibri" pitchFamily="34" charset="0"/>
                <a:ea typeface="Calibri" pitchFamily="34" charset="-122"/>
                <a:cs typeface="Calibri" pitchFamily="34" charset="-120"/>
              </a:rPr>
              <a:t>Climate Sensitivity Heatmap (rainfall x pH)</a:t>
            </a:r>
            <a:endParaRPr lang="en-US" sz="1250" dirty="0"/>
          </a:p>
          <a:p>
            <a:pPr marL="203200" indent="-203200">
              <a:spcAft>
                <a:spcPts val="1000"/>
              </a:spcAft>
              <a:buSzPct val="100000"/>
              <a:buChar char="▪"/>
            </a:pPr>
            <a:r>
              <a:rPr lang="en-US" sz="1250" dirty="0">
                <a:solidFill>
                  <a:srgbClr val="23303A"/>
                </a:solidFill>
                <a:latin typeface="Calibri" pitchFamily="34" charset="0"/>
                <a:ea typeface="Calibri" pitchFamily="34" charset="-122"/>
                <a:cs typeface="Calibri" pitchFamily="34" charset="-120"/>
              </a:rPr>
              <a:t>Crop Yield Distribution (box plot, by crop)</a:t>
            </a:r>
            <a:endParaRPr lang="en-US" sz="1250" dirty="0"/>
          </a:p>
          <a:p>
            <a:pPr marL="203200" indent="-203200">
              <a:spcAft>
                <a:spcPts val="1000"/>
              </a:spcAft>
              <a:buSzPct val="100000"/>
              <a:buChar char="▪"/>
            </a:pPr>
            <a:r>
              <a:rPr lang="en-US" sz="1250" dirty="0">
                <a:solidFill>
                  <a:srgbClr val="23303A"/>
                </a:solidFill>
                <a:latin typeface="Calibri" pitchFamily="34" charset="0"/>
                <a:ea typeface="Calibri" pitchFamily="34" charset="-122"/>
                <a:cs typeface="Calibri" pitchFamily="34" charset="-120"/>
              </a:rPr>
              <a:t>NPK Nutrient Balance (requirement index)</a:t>
            </a:r>
            <a:endParaRPr lang="en-US" sz="1250" dirty="0"/>
          </a:p>
          <a:p>
            <a:pPr marL="203200" indent="-203200">
              <a:spcAft>
                <a:spcPts val="1000"/>
              </a:spcAft>
              <a:buSzPct val="100000"/>
              <a:buChar char="▪"/>
            </a:pPr>
            <a:r>
              <a:rPr lang="en-US" sz="1250" dirty="0">
                <a:solidFill>
                  <a:srgbClr val="23303A"/>
                </a:solidFill>
                <a:latin typeface="Calibri" pitchFamily="34" charset="0"/>
                <a:ea typeface="Calibri" pitchFamily="34" charset="-122"/>
                <a:cs typeface="Calibri" pitchFamily="34" charset="-120"/>
              </a:rPr>
              <a:t>Dynamic Metric Switcher KPI</a:t>
            </a:r>
            <a:endParaRPr lang="en-US" sz="1250" dirty="0"/>
          </a:p>
        </p:txBody>
      </p:sp>
      <p:sp>
        <p:nvSpPr>
          <p:cNvPr id="29" name="Text 27"/>
          <p:cNvSpPr/>
          <p:nvPr/>
        </p:nvSpPr>
        <p:spPr>
          <a:xfrm>
            <a:off x="457200" y="6510528"/>
            <a:ext cx="7315200" cy="274320"/>
          </a:xfrm>
          <a:prstGeom prst="rect">
            <a:avLst/>
          </a:prstGeom>
          <a:noFill/>
          <a:ln/>
        </p:spPr>
        <p:txBody>
          <a:bodyPr wrap="square" rtlCol="0" anchor="ctr"/>
          <a:lstStyle/>
          <a:p>
            <a:pPr marL="0" indent="0">
              <a:buNone/>
            </a:pPr>
            <a:r>
              <a:rPr lang="en-US" sz="900" i="1" dirty="0">
                <a:solidFill>
                  <a:srgbClr val="6E7B85"/>
                </a:solidFill>
                <a:latin typeface="Calibri" pitchFamily="34" charset="0"/>
                <a:ea typeface="Calibri" pitchFamily="34" charset="-122"/>
                <a:cs typeface="Calibri" pitchFamily="34" charset="-120"/>
              </a:rPr>
              <a:t>Section 1 of 8 · Dashboard overview</a:t>
            </a:r>
            <a:endParaRPr lang="en-US" sz="900" dirty="0"/>
          </a:p>
        </p:txBody>
      </p:sp>
      <p:sp>
        <p:nvSpPr>
          <p:cNvPr id="30" name="Text 28"/>
          <p:cNvSpPr/>
          <p:nvPr/>
        </p:nvSpPr>
        <p:spPr>
          <a:xfrm>
            <a:off x="8686800" y="6510528"/>
            <a:ext cx="3017520" cy="274320"/>
          </a:xfrm>
          <a:prstGeom prst="rect">
            <a:avLst/>
          </a:prstGeom>
          <a:noFill/>
          <a:ln/>
        </p:spPr>
        <p:txBody>
          <a:bodyPr wrap="square" rtlCol="0" anchor="ctr"/>
          <a:lstStyle/>
          <a:p>
            <a:pPr marL="0" indent="0" algn="r">
              <a:buNone/>
            </a:pPr>
            <a:r>
              <a:rPr lang="en-US" sz="900" dirty="0">
                <a:solidFill>
                  <a:srgbClr val="6E7B85"/>
                </a:solidFill>
                <a:latin typeface="Calibri" pitchFamily="34" charset="0"/>
                <a:ea typeface="Calibri" pitchFamily="34" charset="-122"/>
                <a:cs typeface="Calibri" pitchFamily="34" charset="-120"/>
              </a:rPr>
              <a:t>Executive Precision Farming Dashboard</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3"/>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200" b="1" kern="0" spc="200" dirty="0">
                <a:solidFill>
                  <a:srgbClr val="6B8F42"/>
                </a:solidFill>
                <a:latin typeface="Calibri" pitchFamily="34" charset="0"/>
                <a:ea typeface="Calibri" pitchFamily="34" charset="-122"/>
                <a:cs typeface="Calibri" pitchFamily="34" charset="-120"/>
              </a:rPr>
              <a:t>SHEET 1</a:t>
            </a:r>
            <a:endParaRPr lang="en-US" sz="1200" dirty="0"/>
          </a:p>
        </p:txBody>
      </p:sp>
      <p:sp>
        <p:nvSpPr>
          <p:cNvPr id="3" name="Text 1"/>
          <p:cNvSpPr/>
          <p:nvPr/>
        </p:nvSpPr>
        <p:spPr>
          <a:xfrm>
            <a:off x="548640" y="621792"/>
            <a:ext cx="10515600" cy="640080"/>
          </a:xfrm>
          <a:prstGeom prst="rect">
            <a:avLst/>
          </a:prstGeom>
          <a:noFill/>
          <a:ln/>
        </p:spPr>
        <p:txBody>
          <a:bodyPr wrap="square" rtlCol="0" anchor="ctr"/>
          <a:lstStyle/>
          <a:p>
            <a:pPr marL="0" indent="0">
              <a:buNone/>
            </a:pPr>
            <a:r>
              <a:rPr lang="en-US" sz="3000" b="1" dirty="0">
                <a:solidFill>
                  <a:srgbClr val="17324D"/>
                </a:solidFill>
                <a:latin typeface="Cambria" pitchFamily="34" charset="0"/>
                <a:ea typeface="Cambria" pitchFamily="34" charset="-122"/>
                <a:cs typeface="Cambria" pitchFamily="34" charset="-120"/>
              </a:rPr>
              <a:t>Production &amp; Yield Trend</a:t>
            </a:r>
            <a:endParaRPr lang="en-US" sz="3000" dirty="0"/>
          </a:p>
        </p:txBody>
      </p:sp>
      <p:sp>
        <p:nvSpPr>
          <p:cNvPr id="4" name="Shape 2"/>
          <p:cNvSpPr/>
          <p:nvPr/>
        </p:nvSpPr>
        <p:spPr>
          <a:xfrm>
            <a:off x="548640" y="1463040"/>
            <a:ext cx="4206240" cy="4754880"/>
          </a:xfrm>
          <a:prstGeom prst="roundRect">
            <a:avLst>
              <a:gd name="adj" fmla="val 1739"/>
            </a:avLst>
          </a:prstGeom>
          <a:solidFill>
            <a:srgbClr val="FFFFFF"/>
          </a:solidFill>
          <a:ln w="12700">
            <a:solidFill>
              <a:srgbClr val="D7DFE8"/>
            </a:solidFill>
            <a:prstDash val="solid"/>
          </a:ln>
          <a:effectLst>
            <a:outerShdw blurRad="76200" dist="25400" dir="5400000" algn="bl" rotWithShape="0">
              <a:srgbClr val="9FB0BE">
                <a:alpha val="25000"/>
              </a:srgbClr>
            </a:outerShdw>
          </a:effectLst>
        </p:spPr>
      </p:sp>
      <p:sp>
        <p:nvSpPr>
          <p:cNvPr id="5" name="Text 3"/>
          <p:cNvSpPr/>
          <p:nvPr/>
        </p:nvSpPr>
        <p:spPr>
          <a:xfrm>
            <a:off x="777240" y="1645920"/>
            <a:ext cx="3749040" cy="320040"/>
          </a:xfrm>
          <a:prstGeom prst="rect">
            <a:avLst/>
          </a:prstGeom>
          <a:noFill/>
          <a:ln/>
        </p:spPr>
        <p:txBody>
          <a:bodyPr wrap="square" rtlCol="0" anchor="ctr"/>
          <a:lstStyle/>
          <a:p>
            <a:pPr marL="0" indent="0">
              <a:buNone/>
            </a:pPr>
            <a:r>
              <a:rPr lang="en-US" sz="1400" b="1" dirty="0">
                <a:solidFill>
                  <a:srgbClr val="17324D"/>
                </a:solidFill>
                <a:latin typeface="Calibri" pitchFamily="34" charset="0"/>
                <a:ea typeface="Calibri" pitchFamily="34" charset="-122"/>
                <a:cs typeface="Calibri" pitchFamily="34" charset="-120"/>
              </a:rPr>
              <a:t>What it shows</a:t>
            </a:r>
            <a:endParaRPr lang="en-US" sz="1400" dirty="0"/>
          </a:p>
        </p:txBody>
      </p:sp>
      <p:sp>
        <p:nvSpPr>
          <p:cNvPr id="6" name="Text 4"/>
          <p:cNvSpPr/>
          <p:nvPr/>
        </p:nvSpPr>
        <p:spPr>
          <a:xfrm>
            <a:off x="777240" y="2011680"/>
            <a:ext cx="3749040" cy="4023360"/>
          </a:xfrm>
          <a:prstGeom prst="rect">
            <a:avLst/>
          </a:prstGeom>
          <a:noFill/>
          <a:ln/>
        </p:spPr>
        <p:txBody>
          <a:bodyPr wrap="square" rtlCol="0" anchor="t"/>
          <a:lstStyle/>
          <a:p>
            <a:r>
              <a:rPr lang="en-US" sz="1200" b="1" dirty="0"/>
              <a:t>1. Consistent Upward Growth</a:t>
            </a:r>
          </a:p>
          <a:p>
            <a:r>
              <a:rPr lang="en-US" sz="1200" dirty="0"/>
              <a:t>Total crop production increased from about 38 million </a:t>
            </a:r>
            <a:r>
              <a:rPr lang="en-US" sz="1200" dirty="0" err="1"/>
              <a:t>tonnes</a:t>
            </a:r>
            <a:r>
              <a:rPr lang="en-US" sz="1200" dirty="0"/>
              <a:t> in 1966 to 165 million </a:t>
            </a:r>
            <a:r>
              <a:rPr lang="en-US" sz="1200" dirty="0" err="1"/>
              <a:t>tonnes</a:t>
            </a:r>
            <a:r>
              <a:rPr lang="en-US" sz="1200" dirty="0"/>
              <a:t> in 2017, showing substantial long-term growth in agricultural output.</a:t>
            </a:r>
          </a:p>
          <a:p>
            <a:endParaRPr lang="en-US" sz="1200" dirty="0"/>
          </a:p>
          <a:p>
            <a:r>
              <a:rPr lang="en-US" sz="1200" b="1" dirty="0"/>
              <a:t>2. Strong Correlation Between Yield and Production</a:t>
            </a:r>
          </a:p>
          <a:p>
            <a:r>
              <a:rPr lang="en-US" sz="1200" dirty="0"/>
              <a:t>The production and yield trends move closely together throughout the years, suggesting that higher productivity per hectare is a key driver of increased crop production.</a:t>
            </a:r>
          </a:p>
          <a:p>
            <a:endParaRPr lang="en-US" sz="1200" dirty="0"/>
          </a:p>
          <a:p>
            <a:r>
              <a:rPr lang="en-US" sz="1200" b="1" dirty="0"/>
              <a:t>3. Recovery After Periodic Declines</a:t>
            </a:r>
          </a:p>
          <a:p>
            <a:r>
              <a:rPr lang="en-US" sz="1200" dirty="0"/>
              <a:t>Although there are noticeable drops around 1979, 1987, 2002, and 2015, both production and yield recover quickly afterward, demonstrating the resilience of the agricultural sector.</a:t>
            </a:r>
          </a:p>
          <a:p>
            <a:endParaRPr lang="en-US" sz="1200" dirty="0"/>
          </a:p>
          <a:p>
            <a:r>
              <a:rPr lang="en-US" sz="1200" dirty="0"/>
              <a:t>Agricultural production and yield have grown steadily over the last five decades, with productivity improvements playing a major role in achieving record production levels despite occasional setbacks.</a:t>
            </a:r>
          </a:p>
          <a:p>
            <a:pPr marL="177800" indent="-177800">
              <a:spcAft>
                <a:spcPts val="800"/>
              </a:spcAft>
              <a:buSzPct val="100000"/>
              <a:buChar char="●"/>
            </a:pPr>
            <a:endParaRPr lang="en-US" sz="1250" dirty="0"/>
          </a:p>
        </p:txBody>
      </p:sp>
      <p:sp>
        <p:nvSpPr>
          <p:cNvPr id="7" name="Shape 5"/>
          <p:cNvSpPr/>
          <p:nvPr/>
        </p:nvSpPr>
        <p:spPr>
          <a:xfrm>
            <a:off x="5029200" y="1463040"/>
            <a:ext cx="6583680" cy="4754880"/>
          </a:xfrm>
          <a:prstGeom prst="roundRect">
            <a:avLst>
              <a:gd name="adj" fmla="val 1538"/>
            </a:avLst>
          </a:prstGeom>
          <a:solidFill>
            <a:srgbClr val="FFFFFF"/>
          </a:solidFill>
          <a:ln w="12700">
            <a:solidFill>
              <a:srgbClr val="D7DFE8"/>
            </a:solidFill>
            <a:prstDash val="solid"/>
          </a:ln>
          <a:effectLst>
            <a:outerShdw blurRad="76200" dist="25400" dir="5400000" algn="bl" rotWithShape="0">
              <a:srgbClr val="9FB0BE">
                <a:alpha val="25000"/>
              </a:srgbClr>
            </a:outerShdw>
          </a:effectLst>
        </p:spPr>
      </p:sp>
      <p:sp>
        <p:nvSpPr>
          <p:cNvPr id="9" name="Text 6"/>
          <p:cNvSpPr/>
          <p:nvPr/>
        </p:nvSpPr>
        <p:spPr>
          <a:xfrm>
            <a:off x="5029200" y="6263640"/>
            <a:ext cx="6583680" cy="228600"/>
          </a:xfrm>
          <a:prstGeom prst="rect">
            <a:avLst/>
          </a:prstGeom>
          <a:noFill/>
          <a:ln/>
        </p:spPr>
        <p:txBody>
          <a:bodyPr wrap="square" rtlCol="0" anchor="ctr"/>
          <a:lstStyle/>
          <a:p>
            <a:pPr marL="0" indent="0" algn="r">
              <a:buNone/>
            </a:pPr>
            <a:endParaRPr lang="en-US" sz="900" dirty="0"/>
          </a:p>
        </p:txBody>
      </p:sp>
      <p:sp>
        <p:nvSpPr>
          <p:cNvPr id="10" name="Text 7"/>
          <p:cNvSpPr/>
          <p:nvPr/>
        </p:nvSpPr>
        <p:spPr>
          <a:xfrm>
            <a:off x="457200" y="6510528"/>
            <a:ext cx="7315200" cy="274320"/>
          </a:xfrm>
          <a:prstGeom prst="rect">
            <a:avLst/>
          </a:prstGeom>
          <a:noFill/>
          <a:ln/>
        </p:spPr>
        <p:txBody>
          <a:bodyPr wrap="square" rtlCol="0" anchor="ctr"/>
          <a:lstStyle/>
          <a:p>
            <a:pPr marL="0" indent="0">
              <a:buNone/>
            </a:pPr>
            <a:r>
              <a:rPr lang="en-US" sz="900" i="1" dirty="0">
                <a:solidFill>
                  <a:srgbClr val="6E7B85"/>
                </a:solidFill>
                <a:latin typeface="Calibri" pitchFamily="34" charset="0"/>
                <a:ea typeface="Calibri" pitchFamily="34" charset="-122"/>
                <a:cs typeface="Calibri" pitchFamily="34" charset="-120"/>
              </a:rPr>
              <a:t>Section 2 of 8 · Production &amp; Yield Trend</a:t>
            </a:r>
            <a:endParaRPr lang="en-US" sz="900" dirty="0"/>
          </a:p>
        </p:txBody>
      </p:sp>
      <p:sp>
        <p:nvSpPr>
          <p:cNvPr id="11" name="Text 8"/>
          <p:cNvSpPr/>
          <p:nvPr/>
        </p:nvSpPr>
        <p:spPr>
          <a:xfrm>
            <a:off x="8686800" y="6510528"/>
            <a:ext cx="3017520" cy="274320"/>
          </a:xfrm>
          <a:prstGeom prst="rect">
            <a:avLst/>
          </a:prstGeom>
          <a:noFill/>
          <a:ln/>
        </p:spPr>
        <p:txBody>
          <a:bodyPr wrap="square" rtlCol="0" anchor="ctr"/>
          <a:lstStyle/>
          <a:p>
            <a:pPr marL="0" indent="0" algn="r">
              <a:buNone/>
            </a:pPr>
            <a:r>
              <a:rPr lang="en-US" sz="900" dirty="0">
                <a:solidFill>
                  <a:srgbClr val="6E7B85"/>
                </a:solidFill>
                <a:latin typeface="Calibri" pitchFamily="34" charset="0"/>
                <a:ea typeface="Calibri" pitchFamily="34" charset="-122"/>
                <a:cs typeface="Calibri" pitchFamily="34" charset="-120"/>
              </a:rPr>
              <a:t>Executive Precision Farming Dashboard</a:t>
            </a:r>
            <a:endParaRPr lang="en-US" sz="900" dirty="0"/>
          </a:p>
        </p:txBody>
      </p:sp>
      <p:pic>
        <p:nvPicPr>
          <p:cNvPr id="13" name="Picture 12">
            <a:extLst>
              <a:ext uri="{FF2B5EF4-FFF2-40B4-BE49-F238E27FC236}">
                <a16:creationId xmlns:a16="http://schemas.microsoft.com/office/drawing/2014/main" id="{A092A4FF-BA2B-4490-AAB3-3ABD7D323FEC}"/>
              </a:ext>
            </a:extLst>
          </p:cNvPr>
          <p:cNvPicPr>
            <a:picLocks noChangeAspect="1"/>
          </p:cNvPicPr>
          <p:nvPr/>
        </p:nvPicPr>
        <p:blipFill>
          <a:blip r:embed="rId3"/>
          <a:stretch>
            <a:fillRect/>
          </a:stretch>
        </p:blipFill>
        <p:spPr>
          <a:xfrm>
            <a:off x="5221605" y="1628784"/>
            <a:ext cx="6259976" cy="440625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3"/>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200" b="1" kern="0" spc="200" dirty="0">
                <a:solidFill>
                  <a:srgbClr val="6B8F42"/>
                </a:solidFill>
                <a:latin typeface="Calibri" pitchFamily="34" charset="0"/>
                <a:ea typeface="Calibri" pitchFamily="34" charset="-122"/>
                <a:cs typeface="Calibri" pitchFamily="34" charset="-120"/>
              </a:rPr>
              <a:t>SHEET 2</a:t>
            </a:r>
            <a:endParaRPr lang="en-US" sz="1200" dirty="0"/>
          </a:p>
        </p:txBody>
      </p:sp>
      <p:sp>
        <p:nvSpPr>
          <p:cNvPr id="3" name="Text 1"/>
          <p:cNvSpPr/>
          <p:nvPr/>
        </p:nvSpPr>
        <p:spPr>
          <a:xfrm>
            <a:off x="548640" y="621792"/>
            <a:ext cx="10515600" cy="640080"/>
          </a:xfrm>
          <a:prstGeom prst="rect">
            <a:avLst/>
          </a:prstGeom>
          <a:noFill/>
          <a:ln/>
        </p:spPr>
        <p:txBody>
          <a:bodyPr wrap="square" rtlCol="0" anchor="ctr"/>
          <a:lstStyle/>
          <a:p>
            <a:pPr marL="0" indent="0">
              <a:buNone/>
            </a:pPr>
            <a:r>
              <a:rPr lang="en-US" sz="3000" b="1" dirty="0">
                <a:solidFill>
                  <a:srgbClr val="17324D"/>
                </a:solidFill>
                <a:latin typeface="Cambria" pitchFamily="34" charset="0"/>
                <a:ea typeface="Cambria" pitchFamily="34" charset="-122"/>
                <a:cs typeface="Cambria" pitchFamily="34" charset="-120"/>
              </a:rPr>
              <a:t>District Pareto Analysis (80/20)</a:t>
            </a:r>
            <a:endParaRPr lang="en-US" sz="3000" dirty="0"/>
          </a:p>
        </p:txBody>
      </p:sp>
      <p:sp>
        <p:nvSpPr>
          <p:cNvPr id="4" name="Shape 2"/>
          <p:cNvSpPr/>
          <p:nvPr/>
        </p:nvSpPr>
        <p:spPr>
          <a:xfrm>
            <a:off x="548640" y="1463040"/>
            <a:ext cx="4206240" cy="4754880"/>
          </a:xfrm>
          <a:prstGeom prst="roundRect">
            <a:avLst>
              <a:gd name="adj" fmla="val 1739"/>
            </a:avLst>
          </a:prstGeom>
          <a:solidFill>
            <a:srgbClr val="FFFFFF"/>
          </a:solidFill>
          <a:ln w="12700">
            <a:solidFill>
              <a:srgbClr val="D7DFE8"/>
            </a:solidFill>
            <a:prstDash val="solid"/>
          </a:ln>
          <a:effectLst>
            <a:outerShdw blurRad="76200" dist="25400" dir="5400000" algn="bl" rotWithShape="0">
              <a:srgbClr val="9FB0BE">
                <a:alpha val="25000"/>
              </a:srgbClr>
            </a:outerShdw>
          </a:effectLst>
        </p:spPr>
      </p:sp>
      <p:sp>
        <p:nvSpPr>
          <p:cNvPr id="5" name="Text 3"/>
          <p:cNvSpPr/>
          <p:nvPr/>
        </p:nvSpPr>
        <p:spPr>
          <a:xfrm>
            <a:off x="777240" y="1645920"/>
            <a:ext cx="3749040" cy="320040"/>
          </a:xfrm>
          <a:prstGeom prst="rect">
            <a:avLst/>
          </a:prstGeom>
          <a:noFill/>
          <a:ln/>
        </p:spPr>
        <p:txBody>
          <a:bodyPr wrap="square" rtlCol="0" anchor="ctr"/>
          <a:lstStyle/>
          <a:p>
            <a:pPr marL="0" indent="0">
              <a:buNone/>
            </a:pPr>
            <a:r>
              <a:rPr lang="en-US" sz="1400" b="1" dirty="0">
                <a:solidFill>
                  <a:srgbClr val="17324D"/>
                </a:solidFill>
                <a:latin typeface="Calibri" pitchFamily="34" charset="0"/>
                <a:ea typeface="Calibri" pitchFamily="34" charset="-122"/>
                <a:cs typeface="Calibri" pitchFamily="34" charset="-120"/>
              </a:rPr>
              <a:t>What it shows</a:t>
            </a:r>
            <a:endParaRPr lang="en-US" sz="1400" dirty="0"/>
          </a:p>
        </p:txBody>
      </p:sp>
      <p:sp>
        <p:nvSpPr>
          <p:cNvPr id="6" name="Text 4"/>
          <p:cNvSpPr/>
          <p:nvPr/>
        </p:nvSpPr>
        <p:spPr>
          <a:xfrm>
            <a:off x="777240" y="2011680"/>
            <a:ext cx="3749040" cy="4023360"/>
          </a:xfrm>
          <a:prstGeom prst="rect">
            <a:avLst/>
          </a:prstGeom>
          <a:noFill/>
          <a:ln/>
        </p:spPr>
        <p:txBody>
          <a:bodyPr wrap="square" rtlCol="0" anchor="t"/>
          <a:lstStyle/>
          <a:p>
            <a:r>
              <a:rPr lang="en-US" sz="1200" b="1" dirty="0"/>
              <a:t>1. A Few Districts Contribute a Large Share of Production</a:t>
            </a:r>
          </a:p>
          <a:p>
            <a:r>
              <a:rPr lang="en-US" sz="1200" dirty="0"/>
              <a:t>The Pareto chart shows that the top-performing districts contribute a disproportionately large share of total crop production. The cumulative line rises steeply in the beginning, indicating that a small number of districts drive a significant portion of agricultural output. </a:t>
            </a:r>
          </a:p>
          <a:p>
            <a:endParaRPr lang="en-US" sz="1200" dirty="0"/>
          </a:p>
          <a:p>
            <a:r>
              <a:rPr lang="en-US" sz="1200" b="1" dirty="0"/>
              <a:t>2. Midnapore is the Leading Producer</a:t>
            </a:r>
          </a:p>
          <a:p>
            <a:r>
              <a:rPr lang="en-US" sz="1200" dirty="0"/>
              <a:t>Midnapore has the highest production among all districts, with nearly 100 million </a:t>
            </a:r>
            <a:r>
              <a:rPr lang="en-US" sz="1200" dirty="0" err="1"/>
              <a:t>tonnes</a:t>
            </a:r>
            <a:r>
              <a:rPr lang="en-US" sz="1200" dirty="0"/>
              <a:t>. </a:t>
            </a:r>
          </a:p>
          <a:p>
            <a:r>
              <a:rPr lang="en-US" sz="1200" dirty="0"/>
              <a:t>Its production is substantially higher than most other districts, making it a key contributor to overall agricultural output.</a:t>
            </a:r>
          </a:p>
          <a:p>
            <a:r>
              <a:rPr lang="en-US" sz="1200" dirty="0"/>
              <a:t> </a:t>
            </a:r>
          </a:p>
          <a:p>
            <a:r>
              <a:rPr lang="en-US" sz="1200" b="1" dirty="0"/>
              <a:t>3. Targeting Top Districts Can Have the Greatest Impact</a:t>
            </a:r>
          </a:p>
          <a:p>
            <a:r>
              <a:rPr lang="en-US" sz="1200" dirty="0"/>
              <a:t>Since a relatively small group of districts accounts for most of the production, focusing investments, technology adoption, and infrastructure improvements in these districts could significantly influence overall agricultural performance.</a:t>
            </a:r>
          </a:p>
          <a:p>
            <a:pPr marL="177800" indent="-177800">
              <a:spcAft>
                <a:spcPts val="800"/>
              </a:spcAft>
              <a:buSzPct val="100000"/>
              <a:buChar char="●"/>
            </a:pPr>
            <a:endParaRPr lang="en-US" sz="1250" dirty="0"/>
          </a:p>
        </p:txBody>
      </p:sp>
      <p:sp>
        <p:nvSpPr>
          <p:cNvPr id="7" name="Shape 5"/>
          <p:cNvSpPr/>
          <p:nvPr/>
        </p:nvSpPr>
        <p:spPr>
          <a:xfrm>
            <a:off x="5029200" y="1463040"/>
            <a:ext cx="6583680" cy="4754880"/>
          </a:xfrm>
          <a:prstGeom prst="roundRect">
            <a:avLst>
              <a:gd name="adj" fmla="val 1538"/>
            </a:avLst>
          </a:prstGeom>
          <a:solidFill>
            <a:srgbClr val="FFFFFF"/>
          </a:solidFill>
          <a:ln w="12700">
            <a:solidFill>
              <a:srgbClr val="D7DFE8"/>
            </a:solidFill>
            <a:prstDash val="solid"/>
          </a:ln>
          <a:effectLst>
            <a:outerShdw blurRad="76200" dist="25400" dir="5400000" algn="bl" rotWithShape="0">
              <a:srgbClr val="9FB0BE">
                <a:alpha val="25000"/>
              </a:srgbClr>
            </a:outerShdw>
          </a:effectLst>
        </p:spPr>
      </p:sp>
      <p:sp>
        <p:nvSpPr>
          <p:cNvPr id="9" name="Text 6"/>
          <p:cNvSpPr/>
          <p:nvPr/>
        </p:nvSpPr>
        <p:spPr>
          <a:xfrm>
            <a:off x="5029200" y="6263640"/>
            <a:ext cx="6583680" cy="228600"/>
          </a:xfrm>
          <a:prstGeom prst="rect">
            <a:avLst/>
          </a:prstGeom>
          <a:noFill/>
          <a:ln/>
        </p:spPr>
        <p:txBody>
          <a:bodyPr wrap="square" rtlCol="0" anchor="ctr"/>
          <a:lstStyle/>
          <a:p>
            <a:pPr marL="0" indent="0" algn="r">
              <a:buNone/>
            </a:pPr>
            <a:endParaRPr lang="en-US" sz="900" dirty="0"/>
          </a:p>
        </p:txBody>
      </p:sp>
      <p:sp>
        <p:nvSpPr>
          <p:cNvPr id="10" name="Text 7"/>
          <p:cNvSpPr/>
          <p:nvPr/>
        </p:nvSpPr>
        <p:spPr>
          <a:xfrm>
            <a:off x="457200" y="6510528"/>
            <a:ext cx="7315200" cy="274320"/>
          </a:xfrm>
          <a:prstGeom prst="rect">
            <a:avLst/>
          </a:prstGeom>
          <a:noFill/>
          <a:ln/>
        </p:spPr>
        <p:txBody>
          <a:bodyPr wrap="square" rtlCol="0" anchor="ctr"/>
          <a:lstStyle/>
          <a:p>
            <a:pPr marL="0" indent="0">
              <a:buNone/>
            </a:pPr>
            <a:r>
              <a:rPr lang="en-US" sz="900" i="1" dirty="0">
                <a:solidFill>
                  <a:srgbClr val="6E7B85"/>
                </a:solidFill>
                <a:latin typeface="Calibri" pitchFamily="34" charset="0"/>
                <a:ea typeface="Calibri" pitchFamily="34" charset="-122"/>
                <a:cs typeface="Calibri" pitchFamily="34" charset="-120"/>
              </a:rPr>
              <a:t>Section 3 of 8 · District Pareto Analysis</a:t>
            </a:r>
            <a:endParaRPr lang="en-US" sz="900" dirty="0"/>
          </a:p>
        </p:txBody>
      </p:sp>
      <p:sp>
        <p:nvSpPr>
          <p:cNvPr id="11" name="Text 8"/>
          <p:cNvSpPr/>
          <p:nvPr/>
        </p:nvSpPr>
        <p:spPr>
          <a:xfrm>
            <a:off x="8686800" y="6510528"/>
            <a:ext cx="3017520" cy="274320"/>
          </a:xfrm>
          <a:prstGeom prst="rect">
            <a:avLst/>
          </a:prstGeom>
          <a:noFill/>
          <a:ln/>
        </p:spPr>
        <p:txBody>
          <a:bodyPr wrap="square" rtlCol="0" anchor="ctr"/>
          <a:lstStyle/>
          <a:p>
            <a:pPr marL="0" indent="0" algn="r">
              <a:buNone/>
            </a:pPr>
            <a:r>
              <a:rPr lang="en-US" sz="900" dirty="0">
                <a:solidFill>
                  <a:srgbClr val="6E7B85"/>
                </a:solidFill>
                <a:latin typeface="Calibri" pitchFamily="34" charset="0"/>
                <a:ea typeface="Calibri" pitchFamily="34" charset="-122"/>
                <a:cs typeface="Calibri" pitchFamily="34" charset="-120"/>
              </a:rPr>
              <a:t>Executive Precision Farming Dashboard</a:t>
            </a:r>
            <a:endParaRPr lang="en-US" sz="900" dirty="0"/>
          </a:p>
        </p:txBody>
      </p:sp>
      <p:pic>
        <p:nvPicPr>
          <p:cNvPr id="13" name="Picture 12">
            <a:extLst>
              <a:ext uri="{FF2B5EF4-FFF2-40B4-BE49-F238E27FC236}">
                <a16:creationId xmlns:a16="http://schemas.microsoft.com/office/drawing/2014/main" id="{4CA76347-8FD6-4A31-B9A1-CC99F6476100}"/>
              </a:ext>
            </a:extLst>
          </p:cNvPr>
          <p:cNvPicPr>
            <a:picLocks noChangeAspect="1"/>
          </p:cNvPicPr>
          <p:nvPr/>
        </p:nvPicPr>
        <p:blipFill>
          <a:blip r:embed="rId3"/>
          <a:stretch>
            <a:fillRect/>
          </a:stretch>
        </p:blipFill>
        <p:spPr>
          <a:xfrm>
            <a:off x="5263047" y="1554480"/>
            <a:ext cx="6115985" cy="454926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3"/>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200" b="1" kern="0" spc="200" dirty="0">
                <a:solidFill>
                  <a:srgbClr val="6B8F42"/>
                </a:solidFill>
                <a:latin typeface="Calibri" pitchFamily="34" charset="0"/>
                <a:ea typeface="Calibri" pitchFamily="34" charset="-122"/>
                <a:cs typeface="Calibri" pitchFamily="34" charset="-120"/>
              </a:rPr>
              <a:t>SHEET 3</a:t>
            </a:r>
            <a:endParaRPr lang="en-US" sz="1200" dirty="0"/>
          </a:p>
        </p:txBody>
      </p:sp>
      <p:sp>
        <p:nvSpPr>
          <p:cNvPr id="3" name="Text 1"/>
          <p:cNvSpPr/>
          <p:nvPr/>
        </p:nvSpPr>
        <p:spPr>
          <a:xfrm>
            <a:off x="548640" y="621792"/>
            <a:ext cx="10515600" cy="640080"/>
          </a:xfrm>
          <a:prstGeom prst="rect">
            <a:avLst/>
          </a:prstGeom>
          <a:noFill/>
          <a:ln/>
        </p:spPr>
        <p:txBody>
          <a:bodyPr wrap="square" rtlCol="0" anchor="ctr"/>
          <a:lstStyle/>
          <a:p>
            <a:pPr marL="0" indent="0">
              <a:buNone/>
            </a:pPr>
            <a:r>
              <a:rPr lang="en-US" sz="3000" b="1" dirty="0">
                <a:solidFill>
                  <a:srgbClr val="17324D"/>
                </a:solidFill>
                <a:latin typeface="Cambria" pitchFamily="34" charset="0"/>
                <a:ea typeface="Cambria" pitchFamily="34" charset="-122"/>
                <a:cs typeface="Cambria" pitchFamily="34" charset="-120"/>
              </a:rPr>
              <a:t>Regional Input Efficiency</a:t>
            </a:r>
            <a:endParaRPr lang="en-US" sz="3000" dirty="0"/>
          </a:p>
        </p:txBody>
      </p:sp>
      <p:sp>
        <p:nvSpPr>
          <p:cNvPr id="4" name="Shape 2"/>
          <p:cNvSpPr/>
          <p:nvPr/>
        </p:nvSpPr>
        <p:spPr>
          <a:xfrm>
            <a:off x="548640" y="1463040"/>
            <a:ext cx="4206240" cy="4754880"/>
          </a:xfrm>
          <a:prstGeom prst="roundRect">
            <a:avLst>
              <a:gd name="adj" fmla="val 1739"/>
            </a:avLst>
          </a:prstGeom>
          <a:solidFill>
            <a:srgbClr val="FFFFFF"/>
          </a:solidFill>
          <a:ln w="12700">
            <a:solidFill>
              <a:srgbClr val="D7DFE8"/>
            </a:solidFill>
            <a:prstDash val="solid"/>
          </a:ln>
          <a:effectLst>
            <a:outerShdw blurRad="76200" dist="25400" dir="5400000" algn="bl" rotWithShape="0">
              <a:srgbClr val="9FB0BE">
                <a:alpha val="25000"/>
              </a:srgbClr>
            </a:outerShdw>
          </a:effectLst>
        </p:spPr>
      </p:sp>
      <p:sp>
        <p:nvSpPr>
          <p:cNvPr id="5" name="Text 3"/>
          <p:cNvSpPr/>
          <p:nvPr/>
        </p:nvSpPr>
        <p:spPr>
          <a:xfrm>
            <a:off x="777240" y="1645920"/>
            <a:ext cx="3749040" cy="320040"/>
          </a:xfrm>
          <a:prstGeom prst="rect">
            <a:avLst/>
          </a:prstGeom>
          <a:noFill/>
          <a:ln/>
        </p:spPr>
        <p:txBody>
          <a:bodyPr wrap="square" rtlCol="0" anchor="ctr"/>
          <a:lstStyle/>
          <a:p>
            <a:pPr marL="0" indent="0">
              <a:buNone/>
            </a:pPr>
            <a:r>
              <a:rPr lang="en-US" sz="1400" b="1" dirty="0">
                <a:solidFill>
                  <a:srgbClr val="17324D"/>
                </a:solidFill>
                <a:latin typeface="Calibri" pitchFamily="34" charset="0"/>
                <a:ea typeface="Calibri" pitchFamily="34" charset="-122"/>
                <a:cs typeface="Calibri" pitchFamily="34" charset="-120"/>
              </a:rPr>
              <a:t>What it shows</a:t>
            </a:r>
            <a:endParaRPr lang="en-US" sz="1400" dirty="0"/>
          </a:p>
        </p:txBody>
      </p:sp>
      <p:sp>
        <p:nvSpPr>
          <p:cNvPr id="6" name="Text 4"/>
          <p:cNvSpPr/>
          <p:nvPr/>
        </p:nvSpPr>
        <p:spPr>
          <a:xfrm>
            <a:off x="777240" y="2011680"/>
            <a:ext cx="3749040" cy="4023360"/>
          </a:xfrm>
          <a:prstGeom prst="rect">
            <a:avLst/>
          </a:prstGeom>
          <a:noFill/>
          <a:ln/>
        </p:spPr>
        <p:txBody>
          <a:bodyPr wrap="square" rtlCol="0" anchor="t"/>
          <a:lstStyle/>
          <a:p>
            <a:r>
              <a:rPr lang="en-US" sz="1200" b="1" dirty="0"/>
              <a:t>1: Higher NPK Efficiency Generally Leads to Higher Yield</a:t>
            </a:r>
          </a:p>
          <a:p>
            <a:r>
              <a:rPr lang="en-US" sz="1200" dirty="0"/>
              <a:t>Most points with </a:t>
            </a:r>
            <a:r>
              <a:rPr lang="en-US" sz="1200" b="1" dirty="0"/>
              <a:t>NPK Efficiency above 100</a:t>
            </a:r>
            <a:r>
              <a:rPr lang="en-US" sz="1200" dirty="0"/>
              <a:t> are associated with </a:t>
            </a:r>
            <a:r>
              <a:rPr lang="en-US" sz="1200" b="1" dirty="0"/>
              <a:t>higher yield values</a:t>
            </a:r>
            <a:r>
              <a:rPr lang="en-US" sz="1200" dirty="0"/>
              <a:t>, indicating a positive relationship between nutrient-use efficiency and crop productivity. This suggests that optimizing fertilizer utilization can significantly improve agricultural output.</a:t>
            </a:r>
          </a:p>
          <a:p>
            <a:r>
              <a:rPr lang="en-US" sz="1200" dirty="0"/>
              <a:t> </a:t>
            </a:r>
          </a:p>
          <a:p>
            <a:r>
              <a:rPr lang="en-US" sz="1200" b="1" dirty="0"/>
              <a:t>2: Similar NPK Levels Produce Different Yields</a:t>
            </a:r>
          </a:p>
          <a:p>
            <a:r>
              <a:rPr lang="en-US" sz="1200" dirty="0"/>
              <a:t>At the same NPK efficiency range (e.g., 80–120), yields vary widely from below 500 kg/ha to above 2500 kg/ha. </a:t>
            </a:r>
          </a:p>
          <a:p>
            <a:r>
              <a:rPr lang="en-US" sz="1200" dirty="0"/>
              <a:t>This indicates that factors beyond fertilizer efficiency—such as rainfall, soil quality, temperature, and crop type—also have a strong influence on yield performance.</a:t>
            </a:r>
          </a:p>
          <a:p>
            <a:endParaRPr lang="en-US" sz="1200" dirty="0"/>
          </a:p>
          <a:p>
            <a:pPr>
              <a:spcAft>
                <a:spcPts val="800"/>
              </a:spcAft>
              <a:buSzPct val="100000"/>
            </a:pPr>
            <a:r>
              <a:rPr lang="en-US" sz="1200" dirty="0"/>
              <a:t>While improved NPK efficiency is generally associated with higher crop yields, fertilizer management alone does not determine productivity. Significant yield variation at similar efficiency levels highlights the importance of climate, soil conditions, and crop-specific factors in achieving optimal agricultural performance.</a:t>
            </a:r>
          </a:p>
        </p:txBody>
      </p:sp>
      <p:sp>
        <p:nvSpPr>
          <p:cNvPr id="7" name="Shape 5"/>
          <p:cNvSpPr/>
          <p:nvPr/>
        </p:nvSpPr>
        <p:spPr>
          <a:xfrm>
            <a:off x="5029200" y="1463040"/>
            <a:ext cx="6583680" cy="4754880"/>
          </a:xfrm>
          <a:prstGeom prst="roundRect">
            <a:avLst>
              <a:gd name="adj" fmla="val 1538"/>
            </a:avLst>
          </a:prstGeom>
          <a:solidFill>
            <a:srgbClr val="FFFFFF"/>
          </a:solidFill>
          <a:ln w="12700">
            <a:solidFill>
              <a:srgbClr val="D7DFE8"/>
            </a:solidFill>
            <a:prstDash val="solid"/>
          </a:ln>
          <a:effectLst>
            <a:outerShdw blurRad="76200" dist="25400" dir="5400000" algn="bl" rotWithShape="0">
              <a:srgbClr val="9FB0BE">
                <a:alpha val="25000"/>
              </a:srgbClr>
            </a:outerShdw>
          </a:effectLst>
        </p:spPr>
      </p:sp>
      <p:sp>
        <p:nvSpPr>
          <p:cNvPr id="9" name="Text 6"/>
          <p:cNvSpPr/>
          <p:nvPr/>
        </p:nvSpPr>
        <p:spPr>
          <a:xfrm>
            <a:off x="5029200" y="6263640"/>
            <a:ext cx="6583680" cy="228600"/>
          </a:xfrm>
          <a:prstGeom prst="rect">
            <a:avLst/>
          </a:prstGeom>
          <a:noFill/>
          <a:ln/>
        </p:spPr>
        <p:txBody>
          <a:bodyPr wrap="square" rtlCol="0" anchor="ctr"/>
          <a:lstStyle/>
          <a:p>
            <a:pPr marL="0" indent="0" algn="r">
              <a:buNone/>
            </a:pPr>
            <a:endParaRPr lang="en-US" sz="900" dirty="0"/>
          </a:p>
        </p:txBody>
      </p:sp>
      <p:sp>
        <p:nvSpPr>
          <p:cNvPr id="10" name="Text 7"/>
          <p:cNvSpPr/>
          <p:nvPr/>
        </p:nvSpPr>
        <p:spPr>
          <a:xfrm>
            <a:off x="457200" y="6510528"/>
            <a:ext cx="7315200" cy="274320"/>
          </a:xfrm>
          <a:prstGeom prst="rect">
            <a:avLst/>
          </a:prstGeom>
          <a:noFill/>
          <a:ln/>
        </p:spPr>
        <p:txBody>
          <a:bodyPr wrap="square" rtlCol="0" anchor="ctr"/>
          <a:lstStyle/>
          <a:p>
            <a:pPr marL="0" indent="0">
              <a:buNone/>
            </a:pPr>
            <a:r>
              <a:rPr lang="en-US" sz="900" i="1" dirty="0">
                <a:solidFill>
                  <a:srgbClr val="6E7B85"/>
                </a:solidFill>
                <a:latin typeface="Calibri" pitchFamily="34" charset="0"/>
                <a:ea typeface="Calibri" pitchFamily="34" charset="-122"/>
                <a:cs typeface="Calibri" pitchFamily="34" charset="-120"/>
              </a:rPr>
              <a:t>Section 4 of 8 · Regional Input Efficiency</a:t>
            </a:r>
            <a:endParaRPr lang="en-US" sz="900" dirty="0"/>
          </a:p>
        </p:txBody>
      </p:sp>
      <p:sp>
        <p:nvSpPr>
          <p:cNvPr id="11" name="Text 8"/>
          <p:cNvSpPr/>
          <p:nvPr/>
        </p:nvSpPr>
        <p:spPr>
          <a:xfrm>
            <a:off x="8686800" y="6510528"/>
            <a:ext cx="3017520" cy="274320"/>
          </a:xfrm>
          <a:prstGeom prst="rect">
            <a:avLst/>
          </a:prstGeom>
          <a:noFill/>
          <a:ln/>
        </p:spPr>
        <p:txBody>
          <a:bodyPr wrap="square" rtlCol="0" anchor="ctr"/>
          <a:lstStyle/>
          <a:p>
            <a:pPr marL="0" indent="0" algn="r">
              <a:buNone/>
            </a:pPr>
            <a:r>
              <a:rPr lang="en-US" sz="900" dirty="0">
                <a:solidFill>
                  <a:srgbClr val="6E7B85"/>
                </a:solidFill>
                <a:latin typeface="Calibri" pitchFamily="34" charset="0"/>
                <a:ea typeface="Calibri" pitchFamily="34" charset="-122"/>
                <a:cs typeface="Calibri" pitchFamily="34" charset="-120"/>
              </a:rPr>
              <a:t>Executive Precision Farming Dashboard</a:t>
            </a:r>
            <a:endParaRPr lang="en-US" sz="900" dirty="0"/>
          </a:p>
        </p:txBody>
      </p:sp>
      <p:pic>
        <p:nvPicPr>
          <p:cNvPr id="13" name="Picture 12">
            <a:extLst>
              <a:ext uri="{FF2B5EF4-FFF2-40B4-BE49-F238E27FC236}">
                <a16:creationId xmlns:a16="http://schemas.microsoft.com/office/drawing/2014/main" id="{31F572E7-44F5-4209-94A2-A0D026FE04BC}"/>
              </a:ext>
            </a:extLst>
          </p:cNvPr>
          <p:cNvPicPr>
            <a:picLocks noChangeAspect="1"/>
          </p:cNvPicPr>
          <p:nvPr/>
        </p:nvPicPr>
        <p:blipFill>
          <a:blip r:embed="rId3"/>
          <a:stretch>
            <a:fillRect/>
          </a:stretch>
        </p:blipFill>
        <p:spPr>
          <a:xfrm>
            <a:off x="5244353" y="1616142"/>
            <a:ext cx="6197717" cy="429088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3"/>
        </a:solidFill>
        <a:effectLst/>
      </p:bgPr>
    </p:bg>
    <p:spTree>
      <p:nvGrpSpPr>
        <p:cNvPr id="1" name=""/>
        <p:cNvGrpSpPr/>
        <p:nvPr/>
      </p:nvGrpSpPr>
      <p:grpSpPr>
        <a:xfrm>
          <a:off x="0" y="0"/>
          <a:ext cx="0" cy="0"/>
          <a:chOff x="0" y="0"/>
          <a:chExt cx="0" cy="0"/>
        </a:xfrm>
      </p:grpSpPr>
      <p:sp>
        <p:nvSpPr>
          <p:cNvPr id="2" name="Text 0"/>
          <p:cNvSpPr/>
          <p:nvPr/>
        </p:nvSpPr>
        <p:spPr>
          <a:xfrm>
            <a:off x="548640" y="348189"/>
            <a:ext cx="7315200" cy="274320"/>
          </a:xfrm>
          <a:prstGeom prst="rect">
            <a:avLst/>
          </a:prstGeom>
          <a:noFill/>
          <a:ln/>
        </p:spPr>
        <p:txBody>
          <a:bodyPr wrap="square" rtlCol="0" anchor="ctr"/>
          <a:lstStyle/>
          <a:p>
            <a:pPr marL="0" indent="0">
              <a:buNone/>
            </a:pPr>
            <a:r>
              <a:rPr lang="en-US" sz="1200" b="1" kern="0" spc="200" dirty="0">
                <a:solidFill>
                  <a:srgbClr val="6B8F42"/>
                </a:solidFill>
                <a:latin typeface="Calibri" pitchFamily="34" charset="0"/>
                <a:ea typeface="Calibri" pitchFamily="34" charset="-122"/>
                <a:cs typeface="Calibri" pitchFamily="34" charset="-120"/>
              </a:rPr>
              <a:t>SHEET 4</a:t>
            </a:r>
            <a:endParaRPr lang="en-US" sz="1200" dirty="0"/>
          </a:p>
        </p:txBody>
      </p:sp>
      <p:sp>
        <p:nvSpPr>
          <p:cNvPr id="3" name="Text 1"/>
          <p:cNvSpPr/>
          <p:nvPr/>
        </p:nvSpPr>
        <p:spPr>
          <a:xfrm>
            <a:off x="548640" y="621792"/>
            <a:ext cx="10515600" cy="640080"/>
          </a:xfrm>
          <a:prstGeom prst="rect">
            <a:avLst/>
          </a:prstGeom>
          <a:noFill/>
          <a:ln/>
        </p:spPr>
        <p:txBody>
          <a:bodyPr wrap="square" rtlCol="0" anchor="ctr"/>
          <a:lstStyle/>
          <a:p>
            <a:pPr marL="0" indent="0">
              <a:buNone/>
            </a:pPr>
            <a:r>
              <a:rPr lang="en-US" sz="3000" b="1" dirty="0">
                <a:solidFill>
                  <a:srgbClr val="17324D"/>
                </a:solidFill>
                <a:latin typeface="Cambria" pitchFamily="34" charset="0"/>
                <a:ea typeface="Cambria" pitchFamily="34" charset="-122"/>
                <a:cs typeface="Cambria" pitchFamily="34" charset="-120"/>
              </a:rPr>
              <a:t>Land Usage Treemap</a:t>
            </a:r>
            <a:endParaRPr lang="en-US" sz="3000" dirty="0"/>
          </a:p>
        </p:txBody>
      </p:sp>
      <p:sp>
        <p:nvSpPr>
          <p:cNvPr id="4" name="Shape 2"/>
          <p:cNvSpPr/>
          <p:nvPr/>
        </p:nvSpPr>
        <p:spPr>
          <a:xfrm>
            <a:off x="548640" y="1463040"/>
            <a:ext cx="4206240" cy="4754880"/>
          </a:xfrm>
          <a:prstGeom prst="roundRect">
            <a:avLst>
              <a:gd name="adj" fmla="val 1739"/>
            </a:avLst>
          </a:prstGeom>
          <a:solidFill>
            <a:srgbClr val="FFFFFF"/>
          </a:solidFill>
          <a:ln w="12700">
            <a:solidFill>
              <a:srgbClr val="D7DFE8"/>
            </a:solidFill>
            <a:prstDash val="solid"/>
          </a:ln>
          <a:effectLst>
            <a:outerShdw blurRad="76200" dist="25400" dir="5400000" algn="bl" rotWithShape="0">
              <a:srgbClr val="9FB0BE">
                <a:alpha val="25000"/>
              </a:srgbClr>
            </a:outerShdw>
          </a:effectLst>
        </p:spPr>
      </p:sp>
      <p:sp>
        <p:nvSpPr>
          <p:cNvPr id="5" name="Text 3"/>
          <p:cNvSpPr/>
          <p:nvPr/>
        </p:nvSpPr>
        <p:spPr>
          <a:xfrm>
            <a:off x="777240" y="1645920"/>
            <a:ext cx="3749040" cy="320040"/>
          </a:xfrm>
          <a:prstGeom prst="rect">
            <a:avLst/>
          </a:prstGeom>
          <a:noFill/>
          <a:ln/>
        </p:spPr>
        <p:txBody>
          <a:bodyPr wrap="square" rtlCol="0" anchor="ctr"/>
          <a:lstStyle/>
          <a:p>
            <a:pPr marL="0" indent="0">
              <a:buNone/>
            </a:pPr>
            <a:r>
              <a:rPr lang="en-US" sz="1400" b="1" dirty="0">
                <a:solidFill>
                  <a:srgbClr val="17324D"/>
                </a:solidFill>
                <a:latin typeface="Calibri" pitchFamily="34" charset="0"/>
                <a:ea typeface="Calibri" pitchFamily="34" charset="-122"/>
                <a:cs typeface="Calibri" pitchFamily="34" charset="-120"/>
              </a:rPr>
              <a:t>What it shows</a:t>
            </a:r>
            <a:endParaRPr lang="en-US" sz="1400" dirty="0"/>
          </a:p>
        </p:txBody>
      </p:sp>
      <p:sp>
        <p:nvSpPr>
          <p:cNvPr id="6" name="Text 4"/>
          <p:cNvSpPr/>
          <p:nvPr/>
        </p:nvSpPr>
        <p:spPr>
          <a:xfrm>
            <a:off x="777240" y="2011680"/>
            <a:ext cx="3749040" cy="4023360"/>
          </a:xfrm>
          <a:prstGeom prst="rect">
            <a:avLst/>
          </a:prstGeom>
          <a:noFill/>
          <a:ln/>
        </p:spPr>
        <p:txBody>
          <a:bodyPr wrap="square" rtlCol="0" anchor="t"/>
          <a:lstStyle/>
          <a:p>
            <a:r>
              <a:rPr lang="en-US" sz="1200" b="1" dirty="0"/>
              <a:t>1: Uttar Pradesh Dominates Agricultural Land Usage</a:t>
            </a:r>
          </a:p>
          <a:p>
            <a:r>
              <a:rPr lang="en-US" sz="1200" b="1" dirty="0"/>
              <a:t>Uttar Pradesh occupies the largest share of cultivated land</a:t>
            </a:r>
            <a:r>
              <a:rPr lang="en-US" sz="1200" dirty="0"/>
              <a:t> in the </a:t>
            </a:r>
            <a:r>
              <a:rPr lang="en-US" sz="1200" dirty="0" err="1"/>
              <a:t>treemap</a:t>
            </a:r>
            <a:r>
              <a:rPr lang="en-US" sz="1200" dirty="0"/>
              <a:t>, making it the most significant contributor to agricultural area among all states. </a:t>
            </a:r>
          </a:p>
          <a:p>
            <a:r>
              <a:rPr lang="en-US" sz="1200" dirty="0"/>
              <a:t>A large portion of this land is dedicated to </a:t>
            </a:r>
            <a:r>
              <a:rPr lang="en-US" sz="1200" b="1" dirty="0"/>
              <a:t>rice cultivation</a:t>
            </a:r>
            <a:r>
              <a:rPr lang="en-US" sz="1200" dirty="0"/>
              <a:t>, highlighting the state's importance in overall crop production</a:t>
            </a:r>
          </a:p>
          <a:p>
            <a:r>
              <a:rPr lang="en-US" sz="1200" dirty="0"/>
              <a:t> </a:t>
            </a:r>
          </a:p>
          <a:p>
            <a:r>
              <a:rPr lang="en-US" sz="1200" b="1" dirty="0"/>
              <a:t>2: Rice is the Most Land-Intensive Crop Across States</a:t>
            </a:r>
          </a:p>
          <a:p>
            <a:r>
              <a:rPr lang="en-US" sz="1200" b="1" dirty="0"/>
              <a:t>Rice appears as the largest block in most states</a:t>
            </a:r>
            <a:r>
              <a:rPr lang="en-US" sz="1200" dirty="0"/>
              <a:t>, indicating that it consumes the highest share of agricultural land compared to cotton, maize, and chickpea. </a:t>
            </a:r>
          </a:p>
          <a:p>
            <a:r>
              <a:rPr lang="en-US" sz="1200" dirty="0"/>
              <a:t>This suggests that rice remains the dominant crop driving land utilization patterns across India.</a:t>
            </a:r>
          </a:p>
          <a:p>
            <a:pPr marL="177800" indent="-177800">
              <a:spcAft>
                <a:spcPts val="800"/>
              </a:spcAft>
              <a:buSzPct val="100000"/>
              <a:buChar char="●"/>
            </a:pPr>
            <a:endParaRPr lang="en-US" sz="1250" dirty="0"/>
          </a:p>
        </p:txBody>
      </p:sp>
      <p:sp>
        <p:nvSpPr>
          <p:cNvPr id="7" name="Shape 5"/>
          <p:cNvSpPr/>
          <p:nvPr/>
        </p:nvSpPr>
        <p:spPr>
          <a:xfrm>
            <a:off x="5029200" y="1463040"/>
            <a:ext cx="6583680" cy="4754880"/>
          </a:xfrm>
          <a:prstGeom prst="roundRect">
            <a:avLst>
              <a:gd name="adj" fmla="val 1538"/>
            </a:avLst>
          </a:prstGeom>
          <a:solidFill>
            <a:srgbClr val="FFFFFF"/>
          </a:solidFill>
          <a:ln w="12700">
            <a:solidFill>
              <a:srgbClr val="D7DFE8"/>
            </a:solidFill>
            <a:prstDash val="solid"/>
          </a:ln>
          <a:effectLst>
            <a:outerShdw blurRad="76200" dist="25400" dir="5400000" algn="bl" rotWithShape="0">
              <a:srgbClr val="9FB0BE">
                <a:alpha val="25000"/>
              </a:srgbClr>
            </a:outerShdw>
          </a:effectLst>
        </p:spPr>
      </p:sp>
      <p:sp>
        <p:nvSpPr>
          <p:cNvPr id="8" name="Text 6"/>
          <p:cNvSpPr/>
          <p:nvPr/>
        </p:nvSpPr>
        <p:spPr>
          <a:xfrm>
            <a:off x="5257800" y="1645920"/>
            <a:ext cx="6126480" cy="274320"/>
          </a:xfrm>
          <a:prstGeom prst="rect">
            <a:avLst/>
          </a:prstGeom>
          <a:noFill/>
          <a:ln/>
        </p:spPr>
        <p:txBody>
          <a:bodyPr wrap="square" rtlCol="0" anchor="ctr"/>
          <a:lstStyle/>
          <a:p>
            <a:pPr marL="0" indent="0">
              <a:buNone/>
            </a:pPr>
            <a:endParaRPr lang="en-US" sz="1300" dirty="0"/>
          </a:p>
        </p:txBody>
      </p:sp>
      <p:sp>
        <p:nvSpPr>
          <p:cNvPr id="10" name="Text 8"/>
          <p:cNvSpPr/>
          <p:nvPr/>
        </p:nvSpPr>
        <p:spPr>
          <a:xfrm>
            <a:off x="5303520" y="3972154"/>
            <a:ext cx="2604211" cy="274320"/>
          </a:xfrm>
          <a:prstGeom prst="rect">
            <a:avLst/>
          </a:prstGeom>
          <a:noFill/>
          <a:ln/>
        </p:spPr>
        <p:txBody>
          <a:bodyPr wrap="square" rtlCol="0" anchor="ctr"/>
          <a:lstStyle/>
          <a:p>
            <a:pPr marL="0" indent="0">
              <a:buNone/>
            </a:pPr>
            <a:endParaRPr lang="en-US" sz="1050" dirty="0"/>
          </a:p>
        </p:txBody>
      </p:sp>
      <p:sp>
        <p:nvSpPr>
          <p:cNvPr id="12" name="Text 10"/>
          <p:cNvSpPr/>
          <p:nvPr/>
        </p:nvSpPr>
        <p:spPr>
          <a:xfrm>
            <a:off x="7999171" y="3972154"/>
            <a:ext cx="1991563" cy="274320"/>
          </a:xfrm>
          <a:prstGeom prst="rect">
            <a:avLst/>
          </a:prstGeom>
          <a:noFill/>
          <a:ln/>
        </p:spPr>
        <p:txBody>
          <a:bodyPr wrap="square" rtlCol="0" anchor="ctr"/>
          <a:lstStyle/>
          <a:p>
            <a:pPr marL="0" indent="0">
              <a:buNone/>
            </a:pPr>
            <a:endParaRPr lang="en-US" sz="1050" dirty="0"/>
          </a:p>
        </p:txBody>
      </p:sp>
      <p:sp>
        <p:nvSpPr>
          <p:cNvPr id="14" name="Text 12"/>
          <p:cNvSpPr/>
          <p:nvPr/>
        </p:nvSpPr>
        <p:spPr>
          <a:xfrm>
            <a:off x="10082174" y="3972154"/>
            <a:ext cx="1256386" cy="274320"/>
          </a:xfrm>
          <a:prstGeom prst="rect">
            <a:avLst/>
          </a:prstGeom>
          <a:noFill/>
          <a:ln/>
        </p:spPr>
        <p:txBody>
          <a:bodyPr wrap="square" rtlCol="0" anchor="ctr"/>
          <a:lstStyle/>
          <a:p>
            <a:pPr marL="0" indent="0">
              <a:buNone/>
            </a:pPr>
            <a:endParaRPr lang="en-US" sz="1050" dirty="0"/>
          </a:p>
        </p:txBody>
      </p:sp>
      <p:sp>
        <p:nvSpPr>
          <p:cNvPr id="16" name="Text 14"/>
          <p:cNvSpPr/>
          <p:nvPr/>
        </p:nvSpPr>
        <p:spPr>
          <a:xfrm>
            <a:off x="5303520" y="5623560"/>
            <a:ext cx="2236622" cy="274320"/>
          </a:xfrm>
          <a:prstGeom prst="rect">
            <a:avLst/>
          </a:prstGeom>
          <a:noFill/>
          <a:ln/>
        </p:spPr>
        <p:txBody>
          <a:bodyPr wrap="square" rtlCol="0" anchor="ctr"/>
          <a:lstStyle/>
          <a:p>
            <a:pPr marL="0" indent="0">
              <a:buNone/>
            </a:pPr>
            <a:endParaRPr lang="en-US" sz="1050" dirty="0"/>
          </a:p>
        </p:txBody>
      </p:sp>
      <p:sp>
        <p:nvSpPr>
          <p:cNvPr id="18" name="Text 16"/>
          <p:cNvSpPr/>
          <p:nvPr/>
        </p:nvSpPr>
        <p:spPr>
          <a:xfrm>
            <a:off x="7631582" y="5623560"/>
            <a:ext cx="1991563" cy="274320"/>
          </a:xfrm>
          <a:prstGeom prst="rect">
            <a:avLst/>
          </a:prstGeom>
          <a:noFill/>
          <a:ln/>
        </p:spPr>
        <p:txBody>
          <a:bodyPr wrap="square" rtlCol="0" anchor="ctr"/>
          <a:lstStyle/>
          <a:p>
            <a:pPr marL="0" indent="0">
              <a:buNone/>
            </a:pPr>
            <a:endParaRPr lang="en-US" sz="1050" dirty="0"/>
          </a:p>
        </p:txBody>
      </p:sp>
      <p:sp>
        <p:nvSpPr>
          <p:cNvPr id="20" name="Text 18"/>
          <p:cNvSpPr/>
          <p:nvPr/>
        </p:nvSpPr>
        <p:spPr>
          <a:xfrm>
            <a:off x="9714586" y="5623560"/>
            <a:ext cx="1623974" cy="274320"/>
          </a:xfrm>
          <a:prstGeom prst="rect">
            <a:avLst/>
          </a:prstGeom>
          <a:noFill/>
          <a:ln/>
        </p:spPr>
        <p:txBody>
          <a:bodyPr wrap="square" rtlCol="0" anchor="ctr"/>
          <a:lstStyle/>
          <a:p>
            <a:pPr marL="0" indent="0">
              <a:buNone/>
            </a:pPr>
            <a:endParaRPr lang="en-US" sz="1050" dirty="0"/>
          </a:p>
        </p:txBody>
      </p:sp>
      <p:sp>
        <p:nvSpPr>
          <p:cNvPr id="21" name="Text 19"/>
          <p:cNvSpPr/>
          <p:nvPr/>
        </p:nvSpPr>
        <p:spPr>
          <a:xfrm>
            <a:off x="5257800" y="6016752"/>
            <a:ext cx="6126480" cy="228600"/>
          </a:xfrm>
          <a:prstGeom prst="rect">
            <a:avLst/>
          </a:prstGeom>
          <a:noFill/>
          <a:ln/>
        </p:spPr>
        <p:txBody>
          <a:bodyPr wrap="square" rtlCol="0" anchor="ctr"/>
          <a:lstStyle/>
          <a:p>
            <a:pPr marL="0" indent="0">
              <a:buNone/>
            </a:pPr>
            <a:r>
              <a:rPr lang="en-US" sz="900" i="1" dirty="0">
                <a:solidFill>
                  <a:srgbClr val="6E7B85"/>
                </a:solidFill>
                <a:latin typeface="Calibri" pitchFamily="34" charset="0"/>
                <a:ea typeface="Calibri" pitchFamily="34" charset="-122"/>
                <a:cs typeface="Calibri" pitchFamily="34" charset="-120"/>
              </a:rPr>
              <a:t>Darker = higher average yield</a:t>
            </a:r>
            <a:endParaRPr lang="en-US" sz="900" dirty="0"/>
          </a:p>
        </p:txBody>
      </p:sp>
      <p:sp>
        <p:nvSpPr>
          <p:cNvPr id="22" name="Text 20"/>
          <p:cNvSpPr/>
          <p:nvPr/>
        </p:nvSpPr>
        <p:spPr>
          <a:xfrm>
            <a:off x="5029200" y="6263640"/>
            <a:ext cx="6583680" cy="228600"/>
          </a:xfrm>
          <a:prstGeom prst="rect">
            <a:avLst/>
          </a:prstGeom>
          <a:noFill/>
          <a:ln/>
        </p:spPr>
        <p:txBody>
          <a:bodyPr wrap="square" rtlCol="0" anchor="ctr"/>
          <a:lstStyle/>
          <a:p>
            <a:pPr marL="0" indent="0" algn="r">
              <a:buNone/>
            </a:pPr>
            <a:endParaRPr lang="en-US" sz="900" dirty="0"/>
          </a:p>
        </p:txBody>
      </p:sp>
      <p:sp>
        <p:nvSpPr>
          <p:cNvPr id="23" name="Text 21"/>
          <p:cNvSpPr/>
          <p:nvPr/>
        </p:nvSpPr>
        <p:spPr>
          <a:xfrm>
            <a:off x="457200" y="6510528"/>
            <a:ext cx="7315200" cy="274320"/>
          </a:xfrm>
          <a:prstGeom prst="rect">
            <a:avLst/>
          </a:prstGeom>
          <a:noFill/>
          <a:ln/>
        </p:spPr>
        <p:txBody>
          <a:bodyPr wrap="square" rtlCol="0" anchor="ctr"/>
          <a:lstStyle/>
          <a:p>
            <a:pPr marL="0" indent="0">
              <a:buNone/>
            </a:pPr>
            <a:r>
              <a:rPr lang="en-US" sz="900" i="1" dirty="0">
                <a:solidFill>
                  <a:srgbClr val="6E7B85"/>
                </a:solidFill>
                <a:latin typeface="Calibri" pitchFamily="34" charset="0"/>
                <a:ea typeface="Calibri" pitchFamily="34" charset="-122"/>
                <a:cs typeface="Calibri" pitchFamily="34" charset="-120"/>
              </a:rPr>
              <a:t>Section 5 of 8 · Land Usage Treemap</a:t>
            </a:r>
            <a:endParaRPr lang="en-US" sz="900" dirty="0"/>
          </a:p>
        </p:txBody>
      </p:sp>
      <p:sp>
        <p:nvSpPr>
          <p:cNvPr id="24" name="Text 22"/>
          <p:cNvSpPr/>
          <p:nvPr/>
        </p:nvSpPr>
        <p:spPr>
          <a:xfrm>
            <a:off x="8686800" y="6510528"/>
            <a:ext cx="3017520" cy="274320"/>
          </a:xfrm>
          <a:prstGeom prst="rect">
            <a:avLst/>
          </a:prstGeom>
          <a:noFill/>
          <a:ln/>
        </p:spPr>
        <p:txBody>
          <a:bodyPr wrap="square" rtlCol="0" anchor="ctr"/>
          <a:lstStyle/>
          <a:p>
            <a:pPr marL="0" indent="0" algn="r">
              <a:buNone/>
            </a:pPr>
            <a:r>
              <a:rPr lang="en-US" sz="900" dirty="0">
                <a:solidFill>
                  <a:srgbClr val="6E7B85"/>
                </a:solidFill>
                <a:latin typeface="Calibri" pitchFamily="34" charset="0"/>
                <a:ea typeface="Calibri" pitchFamily="34" charset="-122"/>
                <a:cs typeface="Calibri" pitchFamily="34" charset="-120"/>
              </a:rPr>
              <a:t>Executive Precision Farming Dashboard</a:t>
            </a:r>
            <a:endParaRPr lang="en-US" sz="900" dirty="0"/>
          </a:p>
        </p:txBody>
      </p:sp>
      <p:pic>
        <p:nvPicPr>
          <p:cNvPr id="26" name="Picture 25">
            <a:extLst>
              <a:ext uri="{FF2B5EF4-FFF2-40B4-BE49-F238E27FC236}">
                <a16:creationId xmlns:a16="http://schemas.microsoft.com/office/drawing/2014/main" id="{E234FCD3-4C1F-4EEB-AAE9-71887A57E847}"/>
              </a:ext>
            </a:extLst>
          </p:cNvPr>
          <p:cNvPicPr>
            <a:picLocks noChangeAspect="1"/>
          </p:cNvPicPr>
          <p:nvPr/>
        </p:nvPicPr>
        <p:blipFill>
          <a:blip r:embed="rId3"/>
          <a:stretch>
            <a:fillRect/>
          </a:stretch>
        </p:blipFill>
        <p:spPr>
          <a:xfrm>
            <a:off x="5106745" y="1600200"/>
            <a:ext cx="6428590" cy="407822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3"/>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200" b="1" kern="0" spc="200" dirty="0">
                <a:solidFill>
                  <a:srgbClr val="6B8F42"/>
                </a:solidFill>
                <a:latin typeface="Calibri" pitchFamily="34" charset="0"/>
                <a:ea typeface="Calibri" pitchFamily="34" charset="-122"/>
                <a:cs typeface="Calibri" pitchFamily="34" charset="-120"/>
              </a:rPr>
              <a:t>SHEET 5</a:t>
            </a:r>
            <a:endParaRPr lang="en-US" sz="1200" dirty="0"/>
          </a:p>
        </p:txBody>
      </p:sp>
      <p:sp>
        <p:nvSpPr>
          <p:cNvPr id="3" name="Text 1"/>
          <p:cNvSpPr/>
          <p:nvPr/>
        </p:nvSpPr>
        <p:spPr>
          <a:xfrm>
            <a:off x="548640" y="621792"/>
            <a:ext cx="10515600" cy="640080"/>
          </a:xfrm>
          <a:prstGeom prst="rect">
            <a:avLst/>
          </a:prstGeom>
          <a:noFill/>
          <a:ln/>
        </p:spPr>
        <p:txBody>
          <a:bodyPr wrap="square" rtlCol="0" anchor="ctr"/>
          <a:lstStyle/>
          <a:p>
            <a:pPr marL="0" indent="0">
              <a:buNone/>
            </a:pPr>
            <a:r>
              <a:rPr lang="en-US" sz="3000" b="1" dirty="0">
                <a:solidFill>
                  <a:srgbClr val="17324D"/>
                </a:solidFill>
                <a:latin typeface="Cambria" pitchFamily="34" charset="0"/>
                <a:ea typeface="Cambria" pitchFamily="34" charset="-122"/>
                <a:cs typeface="Cambria" pitchFamily="34" charset="-120"/>
              </a:rPr>
              <a:t>Climate Sensitivity Heatmap</a:t>
            </a:r>
            <a:endParaRPr lang="en-US" sz="3000" dirty="0"/>
          </a:p>
        </p:txBody>
      </p:sp>
      <p:sp>
        <p:nvSpPr>
          <p:cNvPr id="4" name="Shape 2"/>
          <p:cNvSpPr/>
          <p:nvPr/>
        </p:nvSpPr>
        <p:spPr>
          <a:xfrm>
            <a:off x="548640" y="1463040"/>
            <a:ext cx="4206240" cy="4754880"/>
          </a:xfrm>
          <a:prstGeom prst="roundRect">
            <a:avLst>
              <a:gd name="adj" fmla="val 1739"/>
            </a:avLst>
          </a:prstGeom>
          <a:solidFill>
            <a:srgbClr val="FFFFFF"/>
          </a:solidFill>
          <a:ln w="12700">
            <a:solidFill>
              <a:srgbClr val="D7DFE8"/>
            </a:solidFill>
            <a:prstDash val="solid"/>
          </a:ln>
          <a:effectLst>
            <a:outerShdw blurRad="76200" dist="25400" dir="5400000" algn="bl" rotWithShape="0">
              <a:srgbClr val="9FB0BE">
                <a:alpha val="25000"/>
              </a:srgbClr>
            </a:outerShdw>
          </a:effectLst>
        </p:spPr>
      </p:sp>
      <p:sp>
        <p:nvSpPr>
          <p:cNvPr id="5" name="Text 3"/>
          <p:cNvSpPr/>
          <p:nvPr/>
        </p:nvSpPr>
        <p:spPr>
          <a:xfrm>
            <a:off x="777240" y="1645920"/>
            <a:ext cx="3749040" cy="320040"/>
          </a:xfrm>
          <a:prstGeom prst="rect">
            <a:avLst/>
          </a:prstGeom>
          <a:noFill/>
          <a:ln/>
        </p:spPr>
        <p:txBody>
          <a:bodyPr wrap="square" rtlCol="0" anchor="ctr"/>
          <a:lstStyle/>
          <a:p>
            <a:pPr marL="0" indent="0">
              <a:buNone/>
            </a:pPr>
            <a:r>
              <a:rPr lang="en-US" sz="1400" b="1" dirty="0">
                <a:solidFill>
                  <a:srgbClr val="17324D"/>
                </a:solidFill>
                <a:latin typeface="Calibri" pitchFamily="34" charset="0"/>
                <a:ea typeface="Calibri" pitchFamily="34" charset="-122"/>
                <a:cs typeface="Calibri" pitchFamily="34" charset="-120"/>
              </a:rPr>
              <a:t>What it shows</a:t>
            </a:r>
            <a:endParaRPr lang="en-US" sz="1400" dirty="0"/>
          </a:p>
        </p:txBody>
      </p:sp>
      <p:sp>
        <p:nvSpPr>
          <p:cNvPr id="6" name="Text 4"/>
          <p:cNvSpPr/>
          <p:nvPr/>
        </p:nvSpPr>
        <p:spPr>
          <a:xfrm>
            <a:off x="777240" y="2011680"/>
            <a:ext cx="3749040" cy="4023360"/>
          </a:xfrm>
          <a:prstGeom prst="rect">
            <a:avLst/>
          </a:prstGeom>
          <a:noFill/>
          <a:ln/>
        </p:spPr>
        <p:txBody>
          <a:bodyPr wrap="square" rtlCol="0" anchor="t"/>
          <a:lstStyle/>
          <a:p>
            <a:r>
              <a:rPr lang="en-US" sz="1200" b="1" dirty="0"/>
              <a:t>1: Optimal Yield Occurs at Moderate Rainfall and Slightly Acidic Soil</a:t>
            </a:r>
          </a:p>
          <a:p>
            <a:r>
              <a:rPr lang="en-US" sz="1200" dirty="0"/>
              <a:t>The highest yield (darkest green cell) is observed around 600 mm rainfall and pH 6.5. </a:t>
            </a:r>
          </a:p>
          <a:p>
            <a:r>
              <a:rPr lang="en-US" sz="1200" dirty="0"/>
              <a:t>This suggests that slightly acidic soils combined with moderate rainfall create favorable conditions for crop growth and productivity. </a:t>
            </a:r>
          </a:p>
          <a:p>
            <a:endParaRPr lang="en-US" sz="1200" dirty="0"/>
          </a:p>
          <a:p>
            <a:r>
              <a:rPr lang="en-US" sz="1200" b="1" dirty="0"/>
              <a:t>2: Increasing Rainfall Does Not Always Increase Yield</a:t>
            </a:r>
          </a:p>
          <a:p>
            <a:r>
              <a:rPr lang="en-US" sz="1200" dirty="0"/>
              <a:t>Areas receiving 1200 mm rainfall show lower yields (lighter color) compared to the 600–800 mm range. </a:t>
            </a:r>
          </a:p>
          <a:p>
            <a:r>
              <a:rPr lang="en-US" sz="1200" dirty="0"/>
              <a:t>This indicates that excessive rainfall may not necessarily improve crop performance and can sometimes reduce productivity.</a:t>
            </a:r>
          </a:p>
          <a:p>
            <a:endParaRPr lang="en-US" sz="1200" dirty="0"/>
          </a:p>
          <a:p>
            <a:pPr>
              <a:spcAft>
                <a:spcPts val="800"/>
              </a:spcAft>
              <a:buSzPct val="100000"/>
            </a:pPr>
            <a:r>
              <a:rPr lang="en-US" sz="1200" dirty="0"/>
              <a:t>Crop yield is influenced by the interaction of rainfall and soil pH rather than rainfall alone. The highest productivity is achieved under moderate rainfall levels and near-optimal soil pH (around 6.5), highlighting the importance of balanced environmental conditions for maximizing agricultural output.</a:t>
            </a:r>
          </a:p>
        </p:txBody>
      </p:sp>
      <p:sp>
        <p:nvSpPr>
          <p:cNvPr id="7" name="Shape 5"/>
          <p:cNvSpPr/>
          <p:nvPr/>
        </p:nvSpPr>
        <p:spPr>
          <a:xfrm>
            <a:off x="5029200" y="1463040"/>
            <a:ext cx="6583680" cy="4754880"/>
          </a:xfrm>
          <a:prstGeom prst="roundRect">
            <a:avLst>
              <a:gd name="adj" fmla="val 1538"/>
            </a:avLst>
          </a:prstGeom>
          <a:solidFill>
            <a:srgbClr val="FFFFFF"/>
          </a:solidFill>
          <a:ln w="12700">
            <a:solidFill>
              <a:srgbClr val="D7DFE8"/>
            </a:solidFill>
            <a:prstDash val="solid"/>
          </a:ln>
          <a:effectLst>
            <a:outerShdw blurRad="76200" dist="25400" dir="5400000" algn="bl" rotWithShape="0">
              <a:srgbClr val="9FB0BE">
                <a:alpha val="25000"/>
              </a:srgbClr>
            </a:outerShdw>
          </a:effectLst>
        </p:spPr>
      </p:sp>
      <p:sp>
        <p:nvSpPr>
          <p:cNvPr id="8" name="Text 6"/>
          <p:cNvSpPr/>
          <p:nvPr/>
        </p:nvSpPr>
        <p:spPr>
          <a:xfrm>
            <a:off x="5257800" y="1645920"/>
            <a:ext cx="6126480" cy="274320"/>
          </a:xfrm>
          <a:prstGeom prst="rect">
            <a:avLst/>
          </a:prstGeom>
          <a:noFill/>
          <a:ln/>
        </p:spPr>
        <p:txBody>
          <a:bodyPr wrap="square" rtlCol="0" anchor="ctr"/>
          <a:lstStyle/>
          <a:p>
            <a:pPr marL="0" indent="0">
              <a:buNone/>
            </a:pPr>
            <a:endParaRPr lang="en-US" sz="1300" dirty="0"/>
          </a:p>
        </p:txBody>
      </p:sp>
      <p:sp>
        <p:nvSpPr>
          <p:cNvPr id="9" name="Text 7"/>
          <p:cNvSpPr/>
          <p:nvPr/>
        </p:nvSpPr>
        <p:spPr>
          <a:xfrm>
            <a:off x="5257800" y="2148840"/>
            <a:ext cx="502920" cy="749808"/>
          </a:xfrm>
          <a:prstGeom prst="rect">
            <a:avLst/>
          </a:prstGeom>
          <a:noFill/>
          <a:ln/>
        </p:spPr>
        <p:txBody>
          <a:bodyPr wrap="square" rtlCol="0" anchor="ctr"/>
          <a:lstStyle/>
          <a:p>
            <a:pPr marL="0" indent="0" algn="r">
              <a:buNone/>
            </a:pPr>
            <a:endParaRPr lang="en-US" sz="900" dirty="0"/>
          </a:p>
        </p:txBody>
      </p:sp>
      <p:sp>
        <p:nvSpPr>
          <p:cNvPr id="15" name="Text 13"/>
          <p:cNvSpPr/>
          <p:nvPr/>
        </p:nvSpPr>
        <p:spPr>
          <a:xfrm>
            <a:off x="5257800" y="2898648"/>
            <a:ext cx="502920" cy="749808"/>
          </a:xfrm>
          <a:prstGeom prst="rect">
            <a:avLst/>
          </a:prstGeom>
          <a:noFill/>
          <a:ln/>
        </p:spPr>
        <p:txBody>
          <a:bodyPr wrap="square" rtlCol="0" anchor="ctr"/>
          <a:lstStyle/>
          <a:p>
            <a:pPr marL="0" indent="0" algn="r">
              <a:buNone/>
            </a:pPr>
            <a:endParaRPr lang="en-US" sz="900" dirty="0"/>
          </a:p>
        </p:txBody>
      </p:sp>
      <p:sp>
        <p:nvSpPr>
          <p:cNvPr id="21" name="Text 19"/>
          <p:cNvSpPr/>
          <p:nvPr/>
        </p:nvSpPr>
        <p:spPr>
          <a:xfrm>
            <a:off x="5257800" y="3648456"/>
            <a:ext cx="502920" cy="749808"/>
          </a:xfrm>
          <a:prstGeom prst="rect">
            <a:avLst/>
          </a:prstGeom>
          <a:noFill/>
          <a:ln/>
        </p:spPr>
        <p:txBody>
          <a:bodyPr wrap="square" rtlCol="0" anchor="ctr"/>
          <a:lstStyle/>
          <a:p>
            <a:pPr marL="0" indent="0" algn="r">
              <a:buNone/>
            </a:pPr>
            <a:endParaRPr lang="en-US" sz="900" dirty="0"/>
          </a:p>
        </p:txBody>
      </p:sp>
      <p:sp>
        <p:nvSpPr>
          <p:cNvPr id="27" name="Text 25"/>
          <p:cNvSpPr/>
          <p:nvPr/>
        </p:nvSpPr>
        <p:spPr>
          <a:xfrm>
            <a:off x="5257800" y="4398264"/>
            <a:ext cx="502920" cy="749808"/>
          </a:xfrm>
          <a:prstGeom prst="rect">
            <a:avLst/>
          </a:prstGeom>
          <a:noFill/>
          <a:ln/>
        </p:spPr>
        <p:txBody>
          <a:bodyPr wrap="square" rtlCol="0" anchor="ctr"/>
          <a:lstStyle/>
          <a:p>
            <a:pPr marL="0" indent="0" algn="r">
              <a:buNone/>
            </a:pPr>
            <a:endParaRPr lang="en-US" sz="900" dirty="0"/>
          </a:p>
        </p:txBody>
      </p:sp>
      <p:sp>
        <p:nvSpPr>
          <p:cNvPr id="33" name="Text 31"/>
          <p:cNvSpPr/>
          <p:nvPr/>
        </p:nvSpPr>
        <p:spPr>
          <a:xfrm>
            <a:off x="5806440" y="5193792"/>
            <a:ext cx="932688" cy="228600"/>
          </a:xfrm>
          <a:prstGeom prst="rect">
            <a:avLst/>
          </a:prstGeom>
          <a:noFill/>
          <a:ln/>
        </p:spPr>
        <p:txBody>
          <a:bodyPr wrap="square" rtlCol="0" anchor="ctr"/>
          <a:lstStyle/>
          <a:p>
            <a:pPr marL="0" indent="0" algn="ctr">
              <a:buNone/>
            </a:pPr>
            <a:endParaRPr lang="en-US" sz="850" dirty="0"/>
          </a:p>
        </p:txBody>
      </p:sp>
      <p:sp>
        <p:nvSpPr>
          <p:cNvPr id="34" name="Text 32"/>
          <p:cNvSpPr/>
          <p:nvPr/>
        </p:nvSpPr>
        <p:spPr>
          <a:xfrm>
            <a:off x="6775704" y="5193792"/>
            <a:ext cx="932688" cy="228600"/>
          </a:xfrm>
          <a:prstGeom prst="rect">
            <a:avLst/>
          </a:prstGeom>
          <a:noFill/>
          <a:ln/>
        </p:spPr>
        <p:txBody>
          <a:bodyPr wrap="square" rtlCol="0" anchor="ctr"/>
          <a:lstStyle/>
          <a:p>
            <a:pPr marL="0" indent="0" algn="ctr">
              <a:buNone/>
            </a:pPr>
            <a:endParaRPr lang="en-US" sz="850" dirty="0"/>
          </a:p>
        </p:txBody>
      </p:sp>
      <p:sp>
        <p:nvSpPr>
          <p:cNvPr id="35" name="Text 33"/>
          <p:cNvSpPr/>
          <p:nvPr/>
        </p:nvSpPr>
        <p:spPr>
          <a:xfrm>
            <a:off x="7744968" y="5193792"/>
            <a:ext cx="932688" cy="228600"/>
          </a:xfrm>
          <a:prstGeom prst="rect">
            <a:avLst/>
          </a:prstGeom>
          <a:noFill/>
          <a:ln/>
        </p:spPr>
        <p:txBody>
          <a:bodyPr wrap="square" rtlCol="0" anchor="ctr"/>
          <a:lstStyle/>
          <a:p>
            <a:pPr marL="0" indent="0" algn="ctr">
              <a:buNone/>
            </a:pPr>
            <a:endParaRPr lang="en-US" sz="850" dirty="0"/>
          </a:p>
        </p:txBody>
      </p:sp>
      <p:sp>
        <p:nvSpPr>
          <p:cNvPr id="36" name="Text 34"/>
          <p:cNvSpPr/>
          <p:nvPr/>
        </p:nvSpPr>
        <p:spPr>
          <a:xfrm>
            <a:off x="8714232" y="5193792"/>
            <a:ext cx="932688" cy="228600"/>
          </a:xfrm>
          <a:prstGeom prst="rect">
            <a:avLst/>
          </a:prstGeom>
          <a:noFill/>
          <a:ln/>
        </p:spPr>
        <p:txBody>
          <a:bodyPr wrap="square" rtlCol="0" anchor="ctr"/>
          <a:lstStyle/>
          <a:p>
            <a:pPr marL="0" indent="0" algn="ctr">
              <a:buNone/>
            </a:pPr>
            <a:endParaRPr lang="en-US" sz="850" dirty="0"/>
          </a:p>
        </p:txBody>
      </p:sp>
      <p:sp>
        <p:nvSpPr>
          <p:cNvPr id="37" name="Text 35"/>
          <p:cNvSpPr/>
          <p:nvPr/>
        </p:nvSpPr>
        <p:spPr>
          <a:xfrm>
            <a:off x="9683496" y="5193792"/>
            <a:ext cx="932688" cy="228600"/>
          </a:xfrm>
          <a:prstGeom prst="rect">
            <a:avLst/>
          </a:prstGeom>
          <a:noFill/>
          <a:ln/>
        </p:spPr>
        <p:txBody>
          <a:bodyPr wrap="square" rtlCol="0" anchor="ctr"/>
          <a:lstStyle/>
          <a:p>
            <a:pPr marL="0" indent="0" algn="ctr">
              <a:buNone/>
            </a:pPr>
            <a:endParaRPr lang="en-US" sz="850" dirty="0"/>
          </a:p>
        </p:txBody>
      </p:sp>
      <p:sp>
        <p:nvSpPr>
          <p:cNvPr id="38" name="Text 36"/>
          <p:cNvSpPr/>
          <p:nvPr/>
        </p:nvSpPr>
        <p:spPr>
          <a:xfrm>
            <a:off x="5806440" y="5440680"/>
            <a:ext cx="4846320" cy="228600"/>
          </a:xfrm>
          <a:prstGeom prst="rect">
            <a:avLst/>
          </a:prstGeom>
          <a:noFill/>
          <a:ln/>
        </p:spPr>
        <p:txBody>
          <a:bodyPr wrap="square" rtlCol="0" anchor="ctr"/>
          <a:lstStyle/>
          <a:p>
            <a:pPr marL="0" indent="0" algn="ctr">
              <a:buNone/>
            </a:pPr>
            <a:r>
              <a:rPr lang="en-US" sz="900" dirty="0">
                <a:solidFill>
                  <a:srgbClr val="6E7B85"/>
                </a:solidFill>
                <a:latin typeface="Calibri" pitchFamily="34" charset="0"/>
                <a:ea typeface="Calibri" pitchFamily="34" charset="-122"/>
                <a:cs typeface="Calibri" pitchFamily="34" charset="-120"/>
              </a:rPr>
              <a:t>R</a:t>
            </a:r>
            <a:endParaRPr lang="en-US" sz="900" dirty="0"/>
          </a:p>
        </p:txBody>
      </p:sp>
      <p:sp>
        <p:nvSpPr>
          <p:cNvPr id="39" name="Text 37"/>
          <p:cNvSpPr/>
          <p:nvPr/>
        </p:nvSpPr>
        <p:spPr>
          <a:xfrm>
            <a:off x="5257800" y="1856232"/>
            <a:ext cx="1188720" cy="228600"/>
          </a:xfrm>
          <a:prstGeom prst="rect">
            <a:avLst/>
          </a:prstGeom>
          <a:noFill/>
          <a:ln/>
        </p:spPr>
        <p:txBody>
          <a:bodyPr wrap="square" rtlCol="0" anchor="ctr"/>
          <a:lstStyle/>
          <a:p>
            <a:pPr marL="0" indent="0">
              <a:buNone/>
            </a:pPr>
            <a:endParaRPr lang="en-US" sz="900" dirty="0"/>
          </a:p>
        </p:txBody>
      </p:sp>
      <p:sp>
        <p:nvSpPr>
          <p:cNvPr id="40" name="Text 38"/>
          <p:cNvSpPr/>
          <p:nvPr/>
        </p:nvSpPr>
        <p:spPr>
          <a:xfrm>
            <a:off x="5029200" y="6263640"/>
            <a:ext cx="6583680" cy="228600"/>
          </a:xfrm>
          <a:prstGeom prst="rect">
            <a:avLst/>
          </a:prstGeom>
          <a:noFill/>
          <a:ln/>
        </p:spPr>
        <p:txBody>
          <a:bodyPr wrap="square" rtlCol="0" anchor="ctr"/>
          <a:lstStyle/>
          <a:p>
            <a:pPr marL="0" indent="0" algn="r">
              <a:buNone/>
            </a:pPr>
            <a:endParaRPr lang="en-US" sz="900" dirty="0"/>
          </a:p>
        </p:txBody>
      </p:sp>
      <p:sp>
        <p:nvSpPr>
          <p:cNvPr id="41" name="Text 39"/>
          <p:cNvSpPr/>
          <p:nvPr/>
        </p:nvSpPr>
        <p:spPr>
          <a:xfrm>
            <a:off x="457200" y="6510528"/>
            <a:ext cx="7315200" cy="274320"/>
          </a:xfrm>
          <a:prstGeom prst="rect">
            <a:avLst/>
          </a:prstGeom>
          <a:noFill/>
          <a:ln/>
        </p:spPr>
        <p:txBody>
          <a:bodyPr wrap="square" rtlCol="0" anchor="ctr"/>
          <a:lstStyle/>
          <a:p>
            <a:pPr marL="0" indent="0">
              <a:buNone/>
            </a:pPr>
            <a:r>
              <a:rPr lang="en-US" sz="900" i="1" dirty="0">
                <a:solidFill>
                  <a:srgbClr val="6E7B85"/>
                </a:solidFill>
                <a:latin typeface="Calibri" pitchFamily="34" charset="0"/>
                <a:ea typeface="Calibri" pitchFamily="34" charset="-122"/>
                <a:cs typeface="Calibri" pitchFamily="34" charset="-120"/>
              </a:rPr>
              <a:t>Section 6 of 8 · Climate Sensitivity Heatmap</a:t>
            </a:r>
            <a:endParaRPr lang="en-US" sz="900" dirty="0"/>
          </a:p>
        </p:txBody>
      </p:sp>
      <p:sp>
        <p:nvSpPr>
          <p:cNvPr id="42" name="Text 40"/>
          <p:cNvSpPr/>
          <p:nvPr/>
        </p:nvSpPr>
        <p:spPr>
          <a:xfrm>
            <a:off x="8686800" y="6510528"/>
            <a:ext cx="3017520" cy="274320"/>
          </a:xfrm>
          <a:prstGeom prst="rect">
            <a:avLst/>
          </a:prstGeom>
          <a:noFill/>
          <a:ln/>
        </p:spPr>
        <p:txBody>
          <a:bodyPr wrap="square" rtlCol="0" anchor="ctr"/>
          <a:lstStyle/>
          <a:p>
            <a:pPr marL="0" indent="0" algn="r">
              <a:buNone/>
            </a:pPr>
            <a:r>
              <a:rPr lang="en-US" sz="900" dirty="0">
                <a:solidFill>
                  <a:srgbClr val="6E7B85"/>
                </a:solidFill>
                <a:latin typeface="Calibri" pitchFamily="34" charset="0"/>
                <a:ea typeface="Calibri" pitchFamily="34" charset="-122"/>
                <a:cs typeface="Calibri" pitchFamily="34" charset="-120"/>
              </a:rPr>
              <a:t>Executive Precision Farming Dashboard</a:t>
            </a:r>
            <a:endParaRPr lang="en-US" sz="900" dirty="0"/>
          </a:p>
        </p:txBody>
      </p:sp>
      <p:pic>
        <p:nvPicPr>
          <p:cNvPr id="43" name="Picture 42">
            <a:extLst>
              <a:ext uri="{FF2B5EF4-FFF2-40B4-BE49-F238E27FC236}">
                <a16:creationId xmlns:a16="http://schemas.microsoft.com/office/drawing/2014/main" id="{6348797C-31D1-4EC9-B6C5-CD43DCAB963B}"/>
              </a:ext>
            </a:extLst>
          </p:cNvPr>
          <p:cNvPicPr>
            <a:picLocks noChangeAspect="1"/>
          </p:cNvPicPr>
          <p:nvPr/>
        </p:nvPicPr>
        <p:blipFill>
          <a:blip r:embed="rId3"/>
          <a:stretch>
            <a:fillRect/>
          </a:stretch>
        </p:blipFill>
        <p:spPr>
          <a:xfrm>
            <a:off x="6096000" y="1604026"/>
            <a:ext cx="4409537" cy="441544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3"/>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200" b="1" kern="0" spc="200" dirty="0">
                <a:solidFill>
                  <a:srgbClr val="6B8F42"/>
                </a:solidFill>
                <a:latin typeface="Calibri" pitchFamily="34" charset="0"/>
                <a:ea typeface="Calibri" pitchFamily="34" charset="-122"/>
                <a:cs typeface="Calibri" pitchFamily="34" charset="-120"/>
              </a:rPr>
              <a:t>SHEET 6</a:t>
            </a:r>
            <a:endParaRPr lang="en-US" sz="1200" dirty="0"/>
          </a:p>
        </p:txBody>
      </p:sp>
      <p:sp>
        <p:nvSpPr>
          <p:cNvPr id="3" name="Text 1"/>
          <p:cNvSpPr/>
          <p:nvPr/>
        </p:nvSpPr>
        <p:spPr>
          <a:xfrm>
            <a:off x="548640" y="621792"/>
            <a:ext cx="10515600" cy="640080"/>
          </a:xfrm>
          <a:prstGeom prst="rect">
            <a:avLst/>
          </a:prstGeom>
          <a:noFill/>
          <a:ln/>
        </p:spPr>
        <p:txBody>
          <a:bodyPr wrap="square" rtlCol="0" anchor="ctr"/>
          <a:lstStyle/>
          <a:p>
            <a:pPr marL="0" indent="0">
              <a:buNone/>
            </a:pPr>
            <a:r>
              <a:rPr lang="en-US" sz="3000" b="1" dirty="0">
                <a:solidFill>
                  <a:srgbClr val="17324D"/>
                </a:solidFill>
                <a:latin typeface="Cambria" pitchFamily="34" charset="0"/>
                <a:ea typeface="Cambria" pitchFamily="34" charset="-122"/>
                <a:cs typeface="Cambria" pitchFamily="34" charset="-120"/>
              </a:rPr>
              <a:t>Crop Yield Distribution</a:t>
            </a:r>
            <a:endParaRPr lang="en-US" sz="3000" dirty="0"/>
          </a:p>
        </p:txBody>
      </p:sp>
      <p:sp>
        <p:nvSpPr>
          <p:cNvPr id="4" name="Shape 2"/>
          <p:cNvSpPr/>
          <p:nvPr/>
        </p:nvSpPr>
        <p:spPr>
          <a:xfrm>
            <a:off x="548640" y="1463040"/>
            <a:ext cx="4206240" cy="4754880"/>
          </a:xfrm>
          <a:prstGeom prst="roundRect">
            <a:avLst>
              <a:gd name="adj" fmla="val 1739"/>
            </a:avLst>
          </a:prstGeom>
          <a:solidFill>
            <a:srgbClr val="FFFFFF"/>
          </a:solidFill>
          <a:ln w="12700">
            <a:solidFill>
              <a:srgbClr val="D7DFE8"/>
            </a:solidFill>
            <a:prstDash val="solid"/>
          </a:ln>
          <a:effectLst>
            <a:outerShdw blurRad="76200" dist="25400" dir="5400000" algn="bl" rotWithShape="0">
              <a:srgbClr val="9FB0BE">
                <a:alpha val="25000"/>
              </a:srgbClr>
            </a:outerShdw>
          </a:effectLst>
        </p:spPr>
      </p:sp>
      <p:sp>
        <p:nvSpPr>
          <p:cNvPr id="5" name="Text 3"/>
          <p:cNvSpPr/>
          <p:nvPr/>
        </p:nvSpPr>
        <p:spPr>
          <a:xfrm>
            <a:off x="777240" y="1645920"/>
            <a:ext cx="3749040" cy="320040"/>
          </a:xfrm>
          <a:prstGeom prst="rect">
            <a:avLst/>
          </a:prstGeom>
          <a:noFill/>
          <a:ln/>
        </p:spPr>
        <p:txBody>
          <a:bodyPr wrap="square" rtlCol="0" anchor="ctr"/>
          <a:lstStyle/>
          <a:p>
            <a:pPr marL="0" indent="0">
              <a:buNone/>
            </a:pPr>
            <a:r>
              <a:rPr lang="en-US" sz="1400" b="1" dirty="0">
                <a:solidFill>
                  <a:srgbClr val="17324D"/>
                </a:solidFill>
                <a:latin typeface="Calibri" pitchFamily="34" charset="0"/>
                <a:ea typeface="Calibri" pitchFamily="34" charset="-122"/>
                <a:cs typeface="Calibri" pitchFamily="34" charset="-120"/>
              </a:rPr>
              <a:t>What it shows</a:t>
            </a:r>
            <a:endParaRPr lang="en-US" sz="1400" dirty="0"/>
          </a:p>
        </p:txBody>
      </p:sp>
      <p:sp>
        <p:nvSpPr>
          <p:cNvPr id="6" name="Text 4"/>
          <p:cNvSpPr/>
          <p:nvPr/>
        </p:nvSpPr>
        <p:spPr>
          <a:xfrm>
            <a:off x="777240" y="2011680"/>
            <a:ext cx="3749040" cy="4023360"/>
          </a:xfrm>
          <a:prstGeom prst="rect">
            <a:avLst/>
          </a:prstGeom>
          <a:noFill/>
          <a:ln/>
        </p:spPr>
        <p:txBody>
          <a:bodyPr wrap="square" rtlCol="0" anchor="t"/>
          <a:lstStyle/>
          <a:p>
            <a:pPr marL="177800" indent="-177800">
              <a:spcAft>
                <a:spcPts val="800"/>
              </a:spcAft>
              <a:buSzPct val="100000"/>
              <a:buChar char="●"/>
            </a:pPr>
            <a:r>
              <a:rPr lang="en-US" sz="1250" dirty="0">
                <a:solidFill>
                  <a:srgbClr val="23303A"/>
                </a:solidFill>
                <a:latin typeface="Calibri" pitchFamily="34" charset="0"/>
                <a:ea typeface="Calibri" pitchFamily="34" charset="-122"/>
                <a:cs typeface="Calibri" pitchFamily="34" charset="-120"/>
              </a:rPr>
              <a:t>Distribution of yield per crop across all district-years — not just the average, but how consistent that average is.</a:t>
            </a:r>
            <a:endParaRPr lang="en-US" sz="1250" dirty="0"/>
          </a:p>
          <a:p>
            <a:pPr marL="177800" indent="-177800">
              <a:spcAft>
                <a:spcPts val="800"/>
              </a:spcAft>
              <a:buSzPct val="100000"/>
              <a:buChar char="●"/>
            </a:pPr>
            <a:r>
              <a:rPr lang="en-US" sz="1250" dirty="0">
                <a:solidFill>
                  <a:srgbClr val="23303A"/>
                </a:solidFill>
                <a:latin typeface="Calibri" pitchFamily="34" charset="0"/>
                <a:ea typeface="Calibri" pitchFamily="34" charset="-122"/>
                <a:cs typeface="Calibri" pitchFamily="34" charset="-120"/>
              </a:rPr>
              <a:t>A tall spread means yield swings a lot district-to-district or year-to-year for that crop; a tight spread means it's dependable.</a:t>
            </a:r>
            <a:endParaRPr lang="en-US" sz="1250" dirty="0"/>
          </a:p>
          <a:p>
            <a:pPr marL="177800" indent="-177800">
              <a:spcAft>
                <a:spcPts val="800"/>
              </a:spcAft>
              <a:buSzPct val="100000"/>
              <a:buChar char="●"/>
            </a:pPr>
            <a:r>
              <a:rPr lang="en-US" sz="1250" dirty="0">
                <a:solidFill>
                  <a:srgbClr val="23303A"/>
                </a:solidFill>
                <a:latin typeface="Calibri" pitchFamily="34" charset="0"/>
                <a:ea typeface="Calibri" pitchFamily="34" charset="-122"/>
                <a:cs typeface="Calibri" pitchFamily="34" charset="-120"/>
              </a:rPr>
              <a:t>Illustrative insight: the highest-average crop is also one of the most variable — a reminder that the Pareto and trend views can hide risk that only shows up here.</a:t>
            </a:r>
            <a:endParaRPr lang="en-US" sz="1250" dirty="0"/>
          </a:p>
          <a:p>
            <a:pPr marL="177800" indent="-177800">
              <a:spcAft>
                <a:spcPts val="800"/>
              </a:spcAft>
              <a:buSzPct val="100000"/>
              <a:buChar char="●"/>
            </a:pPr>
            <a:r>
              <a:rPr lang="en-US" sz="1250" dirty="0">
                <a:solidFill>
                  <a:srgbClr val="23303A"/>
                </a:solidFill>
                <a:latin typeface="Calibri" pitchFamily="34" charset="0"/>
                <a:ea typeface="Calibri" pitchFamily="34" charset="-122"/>
                <a:cs typeface="Calibri" pitchFamily="34" charset="-120"/>
              </a:rPr>
              <a:t>Recommendation: pair high-average, high-variance crops with a risk mitigation plan (irrigation, crop insurance) rather than treating the average as guaranteed.</a:t>
            </a:r>
            <a:endParaRPr lang="en-US" sz="1250" dirty="0"/>
          </a:p>
        </p:txBody>
      </p:sp>
      <p:sp>
        <p:nvSpPr>
          <p:cNvPr id="7" name="Shape 5"/>
          <p:cNvSpPr/>
          <p:nvPr/>
        </p:nvSpPr>
        <p:spPr>
          <a:xfrm>
            <a:off x="5029200" y="1463040"/>
            <a:ext cx="6583680" cy="4754880"/>
          </a:xfrm>
          <a:prstGeom prst="roundRect">
            <a:avLst>
              <a:gd name="adj" fmla="val 1538"/>
            </a:avLst>
          </a:prstGeom>
          <a:solidFill>
            <a:srgbClr val="FFFFFF"/>
          </a:solidFill>
          <a:ln w="12700">
            <a:solidFill>
              <a:srgbClr val="D7DFE8"/>
            </a:solidFill>
            <a:prstDash val="solid"/>
          </a:ln>
          <a:effectLst>
            <a:outerShdw blurRad="76200" dist="25400" dir="5400000" algn="bl" rotWithShape="0">
              <a:srgbClr val="9FB0BE">
                <a:alpha val="25000"/>
              </a:srgbClr>
            </a:outerShdw>
          </a:effectLst>
        </p:spPr>
      </p:sp>
      <p:sp>
        <p:nvSpPr>
          <p:cNvPr id="9" name="Text 6"/>
          <p:cNvSpPr/>
          <p:nvPr/>
        </p:nvSpPr>
        <p:spPr>
          <a:xfrm>
            <a:off x="5257800" y="5943600"/>
            <a:ext cx="6126480" cy="274320"/>
          </a:xfrm>
          <a:prstGeom prst="rect">
            <a:avLst/>
          </a:prstGeom>
          <a:noFill/>
          <a:ln/>
        </p:spPr>
        <p:txBody>
          <a:bodyPr wrap="square" rtlCol="0" anchor="ctr"/>
          <a:lstStyle/>
          <a:p>
            <a:pPr marL="0" indent="0">
              <a:buNone/>
            </a:pPr>
            <a:r>
              <a:rPr lang="en-US" sz="900" i="1" dirty="0">
                <a:solidFill>
                  <a:srgbClr val="6E7B85"/>
                </a:solidFill>
                <a:latin typeface="Calibri" pitchFamily="34" charset="0"/>
                <a:ea typeface="Calibri" pitchFamily="34" charset="-122"/>
                <a:cs typeface="Calibri" pitchFamily="34" charset="-120"/>
              </a:rPr>
              <a:t>Note: full distribution (quartiles, outliers) is best judged in Tableau directly — this view summarizes the average as a stand-in.</a:t>
            </a:r>
            <a:endParaRPr lang="en-US" sz="900" dirty="0"/>
          </a:p>
        </p:txBody>
      </p:sp>
      <p:sp>
        <p:nvSpPr>
          <p:cNvPr id="10" name="Text 7"/>
          <p:cNvSpPr/>
          <p:nvPr/>
        </p:nvSpPr>
        <p:spPr>
          <a:xfrm>
            <a:off x="457200" y="6510528"/>
            <a:ext cx="7315200" cy="274320"/>
          </a:xfrm>
          <a:prstGeom prst="rect">
            <a:avLst/>
          </a:prstGeom>
          <a:noFill/>
          <a:ln/>
        </p:spPr>
        <p:txBody>
          <a:bodyPr wrap="square" rtlCol="0" anchor="ctr"/>
          <a:lstStyle/>
          <a:p>
            <a:pPr marL="0" indent="0">
              <a:buNone/>
            </a:pPr>
            <a:r>
              <a:rPr lang="en-US" sz="900" i="1" dirty="0">
                <a:solidFill>
                  <a:srgbClr val="6E7B85"/>
                </a:solidFill>
                <a:latin typeface="Calibri" pitchFamily="34" charset="0"/>
                <a:ea typeface="Calibri" pitchFamily="34" charset="-122"/>
                <a:cs typeface="Calibri" pitchFamily="34" charset="-120"/>
              </a:rPr>
              <a:t>Section 7 of 8 · Crop Yield Distribution</a:t>
            </a:r>
            <a:endParaRPr lang="en-US" sz="900" dirty="0"/>
          </a:p>
        </p:txBody>
      </p:sp>
      <p:sp>
        <p:nvSpPr>
          <p:cNvPr id="11" name="Text 8"/>
          <p:cNvSpPr/>
          <p:nvPr/>
        </p:nvSpPr>
        <p:spPr>
          <a:xfrm>
            <a:off x="8686800" y="6510528"/>
            <a:ext cx="3017520" cy="274320"/>
          </a:xfrm>
          <a:prstGeom prst="rect">
            <a:avLst/>
          </a:prstGeom>
          <a:noFill/>
          <a:ln/>
        </p:spPr>
        <p:txBody>
          <a:bodyPr wrap="square" rtlCol="0" anchor="ctr"/>
          <a:lstStyle/>
          <a:p>
            <a:pPr marL="0" indent="0" algn="r">
              <a:buNone/>
            </a:pPr>
            <a:r>
              <a:rPr lang="en-US" sz="900" dirty="0">
                <a:solidFill>
                  <a:srgbClr val="6E7B85"/>
                </a:solidFill>
                <a:latin typeface="Calibri" pitchFamily="34" charset="0"/>
                <a:ea typeface="Calibri" pitchFamily="34" charset="-122"/>
                <a:cs typeface="Calibri" pitchFamily="34" charset="-120"/>
              </a:rPr>
              <a:t>Executive Precision Farming Dashboard</a:t>
            </a:r>
            <a:endParaRPr lang="en-US" sz="900" dirty="0"/>
          </a:p>
        </p:txBody>
      </p:sp>
      <p:pic>
        <p:nvPicPr>
          <p:cNvPr id="12" name="Picture 11">
            <a:extLst>
              <a:ext uri="{FF2B5EF4-FFF2-40B4-BE49-F238E27FC236}">
                <a16:creationId xmlns:a16="http://schemas.microsoft.com/office/drawing/2014/main" id="{6A3AEBF0-6D43-49E3-9D71-DFFF82EA2AD1}"/>
              </a:ext>
            </a:extLst>
          </p:cNvPr>
          <p:cNvPicPr>
            <a:picLocks noChangeAspect="1"/>
          </p:cNvPicPr>
          <p:nvPr/>
        </p:nvPicPr>
        <p:blipFill>
          <a:blip r:embed="rId3"/>
          <a:stretch>
            <a:fillRect/>
          </a:stretch>
        </p:blipFill>
        <p:spPr>
          <a:xfrm>
            <a:off x="5495365" y="1542167"/>
            <a:ext cx="5207598" cy="432230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3"/>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200" b="1" kern="0" spc="200" dirty="0">
                <a:solidFill>
                  <a:srgbClr val="6B8F42"/>
                </a:solidFill>
                <a:latin typeface="Calibri" pitchFamily="34" charset="0"/>
                <a:ea typeface="Calibri" pitchFamily="34" charset="-122"/>
                <a:cs typeface="Calibri" pitchFamily="34" charset="-120"/>
              </a:rPr>
              <a:t>SHEET 7</a:t>
            </a:r>
            <a:endParaRPr lang="en-US" sz="1200" dirty="0"/>
          </a:p>
        </p:txBody>
      </p:sp>
      <p:sp>
        <p:nvSpPr>
          <p:cNvPr id="3" name="Text 1"/>
          <p:cNvSpPr/>
          <p:nvPr/>
        </p:nvSpPr>
        <p:spPr>
          <a:xfrm>
            <a:off x="548640" y="621792"/>
            <a:ext cx="10515600" cy="640080"/>
          </a:xfrm>
          <a:prstGeom prst="rect">
            <a:avLst/>
          </a:prstGeom>
          <a:noFill/>
          <a:ln/>
        </p:spPr>
        <p:txBody>
          <a:bodyPr wrap="square" rtlCol="0" anchor="ctr"/>
          <a:lstStyle/>
          <a:p>
            <a:pPr marL="0" indent="0">
              <a:buNone/>
            </a:pPr>
            <a:r>
              <a:rPr lang="en-US" sz="3000" b="1" dirty="0">
                <a:solidFill>
                  <a:srgbClr val="17324D"/>
                </a:solidFill>
                <a:latin typeface="Cambria" pitchFamily="34" charset="0"/>
                <a:ea typeface="Cambria" pitchFamily="34" charset="-122"/>
              </a:rPr>
              <a:t>Crop yield geographic analysis</a:t>
            </a:r>
            <a:endParaRPr lang="en-US" sz="3000" dirty="0"/>
          </a:p>
        </p:txBody>
      </p:sp>
      <p:sp>
        <p:nvSpPr>
          <p:cNvPr id="4" name="Shape 2"/>
          <p:cNvSpPr/>
          <p:nvPr/>
        </p:nvSpPr>
        <p:spPr>
          <a:xfrm>
            <a:off x="548640" y="1463040"/>
            <a:ext cx="4206240" cy="4754880"/>
          </a:xfrm>
          <a:prstGeom prst="roundRect">
            <a:avLst>
              <a:gd name="adj" fmla="val 1739"/>
            </a:avLst>
          </a:prstGeom>
          <a:solidFill>
            <a:srgbClr val="FFFFFF"/>
          </a:solidFill>
          <a:ln w="12700">
            <a:solidFill>
              <a:srgbClr val="D7DFE8"/>
            </a:solidFill>
            <a:prstDash val="solid"/>
          </a:ln>
          <a:effectLst>
            <a:outerShdw blurRad="76200" dist="25400" dir="5400000" algn="bl" rotWithShape="0">
              <a:srgbClr val="9FB0BE">
                <a:alpha val="25000"/>
              </a:srgbClr>
            </a:outerShdw>
          </a:effectLst>
        </p:spPr>
      </p:sp>
      <p:sp>
        <p:nvSpPr>
          <p:cNvPr id="5" name="Text 3"/>
          <p:cNvSpPr/>
          <p:nvPr/>
        </p:nvSpPr>
        <p:spPr>
          <a:xfrm>
            <a:off x="777240" y="1645920"/>
            <a:ext cx="3749040" cy="320040"/>
          </a:xfrm>
          <a:prstGeom prst="rect">
            <a:avLst/>
          </a:prstGeom>
          <a:noFill/>
          <a:ln/>
        </p:spPr>
        <p:txBody>
          <a:bodyPr wrap="square" rtlCol="0" anchor="ctr"/>
          <a:lstStyle/>
          <a:p>
            <a:pPr marL="0" indent="0">
              <a:buNone/>
            </a:pPr>
            <a:r>
              <a:rPr lang="en-US" sz="1400" b="1" dirty="0">
                <a:solidFill>
                  <a:srgbClr val="17324D"/>
                </a:solidFill>
                <a:latin typeface="Calibri" pitchFamily="34" charset="0"/>
                <a:ea typeface="Calibri" pitchFamily="34" charset="-122"/>
                <a:cs typeface="Calibri" pitchFamily="34" charset="-120"/>
              </a:rPr>
              <a:t>What it shows</a:t>
            </a:r>
            <a:endParaRPr lang="en-US" sz="1400" dirty="0"/>
          </a:p>
        </p:txBody>
      </p:sp>
      <p:sp>
        <p:nvSpPr>
          <p:cNvPr id="6" name="Text 4"/>
          <p:cNvSpPr/>
          <p:nvPr/>
        </p:nvSpPr>
        <p:spPr>
          <a:xfrm>
            <a:off x="777240" y="2011680"/>
            <a:ext cx="3749040" cy="4023360"/>
          </a:xfrm>
          <a:prstGeom prst="rect">
            <a:avLst/>
          </a:prstGeom>
          <a:noFill/>
          <a:ln/>
        </p:spPr>
        <p:txBody>
          <a:bodyPr wrap="square" rtlCol="0" anchor="t"/>
          <a:lstStyle/>
          <a:p>
            <a:r>
              <a:rPr lang="en-US" sz="1200" b="1" dirty="0"/>
              <a:t>1. Southern States Show Higher Crop Yields</a:t>
            </a:r>
          </a:p>
          <a:p>
            <a:r>
              <a:rPr lang="en-US" sz="1200" dirty="0"/>
              <a:t>States such as </a:t>
            </a:r>
            <a:r>
              <a:rPr lang="en-US" sz="1200" b="1" dirty="0"/>
              <a:t>Tamil Nadu, Andhra Pradesh, Karnataka, and Kerala</a:t>
            </a:r>
            <a:r>
              <a:rPr lang="en-US" sz="1200" dirty="0"/>
              <a:t> are shaded darker green, indicating comparatively higher crop yields. </a:t>
            </a:r>
          </a:p>
          <a:p>
            <a:r>
              <a:rPr lang="en-US" sz="1200" dirty="0"/>
              <a:t>This suggests better agricultural productivity, likely supported by irrigation infrastructure, favorable climate, and intensive farming practices.</a:t>
            </a:r>
          </a:p>
          <a:p>
            <a:r>
              <a:rPr lang="en-US" sz="1200" dirty="0"/>
              <a:t> </a:t>
            </a:r>
          </a:p>
          <a:p>
            <a:r>
              <a:rPr lang="en-US" sz="1200" b="1" dirty="0"/>
              <a:t>2. Central and Western India Have Moderate to Lower Yields</a:t>
            </a:r>
          </a:p>
          <a:p>
            <a:r>
              <a:rPr lang="en-US" sz="1200" dirty="0"/>
              <a:t>States like </a:t>
            </a:r>
            <a:r>
              <a:rPr lang="en-US" sz="1200" b="1" dirty="0"/>
              <a:t>Madhya Pradesh, Maharashtra, Rajasthan, and Gujarat</a:t>
            </a:r>
            <a:r>
              <a:rPr lang="en-US" sz="1200" dirty="0"/>
              <a:t> appear in lighter shades. </a:t>
            </a:r>
          </a:p>
          <a:p>
            <a:r>
              <a:rPr lang="en-US" sz="1200" dirty="0"/>
              <a:t>These regions may have lower average yields compared to the southern states, highlighting opportunities for productivity improvement</a:t>
            </a:r>
          </a:p>
          <a:p>
            <a:endParaRPr lang="en-US" sz="1200" dirty="0"/>
          </a:p>
          <a:p>
            <a:pPr>
              <a:spcAft>
                <a:spcPts val="800"/>
              </a:spcAft>
              <a:buSzPct val="100000"/>
            </a:pPr>
            <a:r>
              <a:rPr lang="en-US" sz="1200" dirty="0"/>
              <a:t>Crop yield is unevenly distributed across India, with southern states emerging as the most productive regions. The geographic pattern highlights the influence of regional agricultural practices, climate, and resource availability on crop performance.</a:t>
            </a:r>
          </a:p>
        </p:txBody>
      </p:sp>
      <p:sp>
        <p:nvSpPr>
          <p:cNvPr id="7" name="Shape 5"/>
          <p:cNvSpPr/>
          <p:nvPr/>
        </p:nvSpPr>
        <p:spPr>
          <a:xfrm>
            <a:off x="5029200" y="1463040"/>
            <a:ext cx="6583680" cy="4754880"/>
          </a:xfrm>
          <a:prstGeom prst="roundRect">
            <a:avLst>
              <a:gd name="adj" fmla="val 1538"/>
            </a:avLst>
          </a:prstGeom>
          <a:solidFill>
            <a:srgbClr val="FFFFFF"/>
          </a:solidFill>
          <a:ln w="12700">
            <a:solidFill>
              <a:srgbClr val="D7DFE8"/>
            </a:solidFill>
            <a:prstDash val="solid"/>
          </a:ln>
          <a:effectLst>
            <a:outerShdw blurRad="76200" dist="25400" dir="5400000" algn="bl" rotWithShape="0">
              <a:srgbClr val="9FB0BE">
                <a:alpha val="25000"/>
              </a:srgbClr>
            </a:outerShdw>
          </a:effectLst>
        </p:spPr>
      </p:sp>
      <p:sp>
        <p:nvSpPr>
          <p:cNvPr id="9" name="Text 6"/>
          <p:cNvSpPr/>
          <p:nvPr/>
        </p:nvSpPr>
        <p:spPr>
          <a:xfrm>
            <a:off x="5029200" y="6263640"/>
            <a:ext cx="6583680" cy="228600"/>
          </a:xfrm>
          <a:prstGeom prst="rect">
            <a:avLst/>
          </a:prstGeom>
          <a:noFill/>
          <a:ln/>
        </p:spPr>
        <p:txBody>
          <a:bodyPr wrap="square" rtlCol="0" anchor="ctr"/>
          <a:lstStyle/>
          <a:p>
            <a:pPr marL="0" indent="0" algn="r">
              <a:buNone/>
            </a:pPr>
            <a:endParaRPr lang="en-US" sz="900" dirty="0"/>
          </a:p>
        </p:txBody>
      </p:sp>
      <p:sp>
        <p:nvSpPr>
          <p:cNvPr id="10" name="Text 7"/>
          <p:cNvSpPr/>
          <p:nvPr/>
        </p:nvSpPr>
        <p:spPr>
          <a:xfrm>
            <a:off x="457200" y="6510528"/>
            <a:ext cx="7315200" cy="274320"/>
          </a:xfrm>
          <a:prstGeom prst="rect">
            <a:avLst/>
          </a:prstGeom>
          <a:noFill/>
          <a:ln/>
        </p:spPr>
        <p:txBody>
          <a:bodyPr wrap="square" rtlCol="0" anchor="ctr"/>
          <a:lstStyle/>
          <a:p>
            <a:pPr marL="0" indent="0">
              <a:buNone/>
            </a:pPr>
            <a:r>
              <a:rPr lang="en-US" sz="900" i="1" dirty="0">
                <a:solidFill>
                  <a:srgbClr val="6E7B85"/>
                </a:solidFill>
                <a:latin typeface="Calibri" pitchFamily="34" charset="0"/>
                <a:ea typeface="Calibri" pitchFamily="34" charset="-122"/>
                <a:cs typeface="Calibri" pitchFamily="34" charset="-120"/>
              </a:rPr>
              <a:t>Section 8 of 8</a:t>
            </a:r>
            <a:endParaRPr lang="en-US" sz="900" dirty="0"/>
          </a:p>
        </p:txBody>
      </p:sp>
      <p:sp>
        <p:nvSpPr>
          <p:cNvPr id="11" name="Text 8"/>
          <p:cNvSpPr/>
          <p:nvPr/>
        </p:nvSpPr>
        <p:spPr>
          <a:xfrm>
            <a:off x="8686800" y="6510528"/>
            <a:ext cx="3017520" cy="274320"/>
          </a:xfrm>
          <a:prstGeom prst="rect">
            <a:avLst/>
          </a:prstGeom>
          <a:noFill/>
          <a:ln/>
        </p:spPr>
        <p:txBody>
          <a:bodyPr wrap="square" rtlCol="0" anchor="ctr"/>
          <a:lstStyle/>
          <a:p>
            <a:pPr marL="0" indent="0" algn="r">
              <a:buNone/>
            </a:pPr>
            <a:r>
              <a:rPr lang="en-US" sz="900" dirty="0">
                <a:solidFill>
                  <a:srgbClr val="6E7B85"/>
                </a:solidFill>
                <a:latin typeface="Calibri" pitchFamily="34" charset="0"/>
                <a:ea typeface="Calibri" pitchFamily="34" charset="-122"/>
                <a:cs typeface="Calibri" pitchFamily="34" charset="-120"/>
              </a:rPr>
              <a:t>Executive Precision Farming Dashboard</a:t>
            </a:r>
            <a:endParaRPr lang="en-US" sz="900" dirty="0"/>
          </a:p>
        </p:txBody>
      </p:sp>
      <p:pic>
        <p:nvPicPr>
          <p:cNvPr id="13" name="Picture 12">
            <a:extLst>
              <a:ext uri="{FF2B5EF4-FFF2-40B4-BE49-F238E27FC236}">
                <a16:creationId xmlns:a16="http://schemas.microsoft.com/office/drawing/2014/main" id="{48D44F0E-8CDD-43D8-8881-E03BA6B23C89}"/>
              </a:ext>
            </a:extLst>
          </p:cNvPr>
          <p:cNvPicPr>
            <a:picLocks noChangeAspect="1"/>
          </p:cNvPicPr>
          <p:nvPr/>
        </p:nvPicPr>
        <p:blipFill>
          <a:blip r:embed="rId3"/>
          <a:stretch>
            <a:fillRect/>
          </a:stretch>
        </p:blipFill>
        <p:spPr>
          <a:xfrm>
            <a:off x="5308602" y="1859280"/>
            <a:ext cx="6106158" cy="366656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0256DD1-81FE-44B8-9324-44E710EBEACE}"/>
              </a:ext>
            </a:extLst>
          </p:cNvPr>
          <p:cNvPicPr>
            <a:picLocks noChangeAspect="1"/>
          </p:cNvPicPr>
          <p:nvPr/>
        </p:nvPicPr>
        <p:blipFill>
          <a:blip r:embed="rId2"/>
          <a:stretch>
            <a:fillRect/>
          </a:stretch>
        </p:blipFill>
        <p:spPr>
          <a:xfrm>
            <a:off x="608229" y="0"/>
            <a:ext cx="10975541" cy="6858000"/>
          </a:xfrm>
          <a:prstGeom prst="rect">
            <a:avLst/>
          </a:prstGeom>
        </p:spPr>
      </p:pic>
    </p:spTree>
    <p:extLst>
      <p:ext uri="{BB962C8B-B14F-4D97-AF65-F5344CB8AC3E}">
        <p14:creationId xmlns:p14="http://schemas.microsoft.com/office/powerpoint/2010/main" val="33360641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0E2033"/>
        </a:solidFill>
        <a:effectLst/>
      </p:bgPr>
    </p:bg>
    <p:spTree>
      <p:nvGrpSpPr>
        <p:cNvPr id="1" name=""/>
        <p:cNvGrpSpPr/>
        <p:nvPr/>
      </p:nvGrpSpPr>
      <p:grpSpPr>
        <a:xfrm>
          <a:off x="0" y="0"/>
          <a:ext cx="0" cy="0"/>
          <a:chOff x="0" y="0"/>
          <a:chExt cx="0" cy="0"/>
        </a:xfrm>
      </p:grpSpPr>
      <p:sp>
        <p:nvSpPr>
          <p:cNvPr id="2" name="Shape 0"/>
          <p:cNvSpPr/>
          <p:nvPr/>
        </p:nvSpPr>
        <p:spPr>
          <a:xfrm>
            <a:off x="-1280160" y="4846320"/>
            <a:ext cx="2926080" cy="2926080"/>
          </a:xfrm>
          <a:prstGeom prst="ellipse">
            <a:avLst/>
          </a:prstGeom>
          <a:solidFill>
            <a:srgbClr val="6B8F42">
              <a:alpha val="12000"/>
            </a:srgbClr>
          </a:solidFill>
          <a:ln/>
        </p:spPr>
      </p:sp>
      <p:sp>
        <p:nvSpPr>
          <p:cNvPr id="3" name="Text 1"/>
          <p:cNvSpPr/>
          <p:nvPr/>
        </p:nvSpPr>
        <p:spPr>
          <a:xfrm>
            <a:off x="640080" y="502920"/>
            <a:ext cx="7315200" cy="320040"/>
          </a:xfrm>
          <a:prstGeom prst="rect">
            <a:avLst/>
          </a:prstGeom>
          <a:noFill/>
          <a:ln/>
        </p:spPr>
        <p:txBody>
          <a:bodyPr wrap="square" rtlCol="0" anchor="ctr"/>
          <a:lstStyle/>
          <a:p>
            <a:pPr marL="0" indent="0">
              <a:buNone/>
            </a:pPr>
            <a:r>
              <a:rPr lang="en-US" sz="1300" b="1" kern="0" spc="300" dirty="0">
                <a:solidFill>
                  <a:srgbClr val="D9A441"/>
                </a:solidFill>
                <a:latin typeface="Calibri" pitchFamily="34" charset="0"/>
                <a:ea typeface="Calibri" pitchFamily="34" charset="-122"/>
                <a:cs typeface="Calibri" pitchFamily="34" charset="-120"/>
              </a:rPr>
              <a:t>KEY TAKEAWAYS</a:t>
            </a:r>
            <a:endParaRPr lang="en-US" sz="1300" dirty="0"/>
          </a:p>
        </p:txBody>
      </p:sp>
      <p:sp>
        <p:nvSpPr>
          <p:cNvPr id="4" name="Text 2"/>
          <p:cNvSpPr/>
          <p:nvPr/>
        </p:nvSpPr>
        <p:spPr>
          <a:xfrm>
            <a:off x="594360" y="777240"/>
            <a:ext cx="10515600" cy="59436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From Eight Views to Three Actions</a:t>
            </a:r>
            <a:endParaRPr lang="en-US" sz="2800" dirty="0"/>
          </a:p>
        </p:txBody>
      </p:sp>
      <p:sp>
        <p:nvSpPr>
          <p:cNvPr id="5" name="Shape 3"/>
          <p:cNvSpPr/>
          <p:nvPr/>
        </p:nvSpPr>
        <p:spPr>
          <a:xfrm>
            <a:off x="640080" y="1691640"/>
            <a:ext cx="685800" cy="685800"/>
          </a:xfrm>
          <a:prstGeom prst="ellipse">
            <a:avLst/>
          </a:prstGeom>
          <a:solidFill>
            <a:srgbClr val="1E3A57"/>
          </a:solidFill>
          <a:ln w="12700">
            <a:solidFill>
              <a:srgbClr val="6B8F42"/>
            </a:solidFill>
            <a:prstDash val="solid"/>
          </a:ln>
        </p:spPr>
      </p:sp>
      <p:sp>
        <p:nvSpPr>
          <p:cNvPr id="6" name="Text 4"/>
          <p:cNvSpPr/>
          <p:nvPr/>
        </p:nvSpPr>
        <p:spPr>
          <a:xfrm>
            <a:off x="640080" y="1691640"/>
            <a:ext cx="685800" cy="68580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7" name="Text 5"/>
          <p:cNvSpPr/>
          <p:nvPr/>
        </p:nvSpPr>
        <p:spPr>
          <a:xfrm>
            <a:off x="1508760" y="1673352"/>
            <a:ext cx="9692640" cy="36576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Concentrate on the top-Pareto districts</a:t>
            </a:r>
            <a:endParaRPr lang="en-US" sz="1600" dirty="0"/>
          </a:p>
        </p:txBody>
      </p:sp>
      <p:sp>
        <p:nvSpPr>
          <p:cNvPr id="8" name="Text 6"/>
          <p:cNvSpPr/>
          <p:nvPr/>
        </p:nvSpPr>
        <p:spPr>
          <a:xfrm>
            <a:off x="1508760" y="2039112"/>
            <a:ext cx="9692640" cy="548640"/>
          </a:xfrm>
          <a:prstGeom prst="rect">
            <a:avLst/>
          </a:prstGeom>
          <a:noFill/>
          <a:ln/>
        </p:spPr>
        <p:txBody>
          <a:bodyPr wrap="square" rtlCol="0" anchor="t"/>
          <a:lstStyle/>
          <a:p>
            <a:pPr marL="0" indent="0">
              <a:buNone/>
            </a:pPr>
            <a:r>
              <a:rPr lang="en-US" sz="1250" dirty="0">
                <a:solidFill>
                  <a:srgbClr val="CADCE8"/>
                </a:solidFill>
                <a:latin typeface="Calibri" pitchFamily="34" charset="0"/>
                <a:ea typeface="Calibri" pitchFamily="34" charset="-122"/>
                <a:cs typeface="Calibri" pitchFamily="34" charset="-120"/>
              </a:rPr>
              <a:t>The Pareto view shows a small district cluster drives most production — prioritize field visits and extension resources there first.</a:t>
            </a:r>
            <a:endParaRPr lang="en-US" sz="1250" dirty="0"/>
          </a:p>
        </p:txBody>
      </p:sp>
      <p:sp>
        <p:nvSpPr>
          <p:cNvPr id="9" name="Shape 7"/>
          <p:cNvSpPr/>
          <p:nvPr/>
        </p:nvSpPr>
        <p:spPr>
          <a:xfrm>
            <a:off x="640080" y="2926080"/>
            <a:ext cx="685800" cy="685800"/>
          </a:xfrm>
          <a:prstGeom prst="ellipse">
            <a:avLst/>
          </a:prstGeom>
          <a:solidFill>
            <a:srgbClr val="1E3A57"/>
          </a:solidFill>
          <a:ln w="12700">
            <a:solidFill>
              <a:srgbClr val="6B8F42"/>
            </a:solidFill>
            <a:prstDash val="solid"/>
          </a:ln>
        </p:spPr>
      </p:sp>
      <p:sp>
        <p:nvSpPr>
          <p:cNvPr id="10" name="Text 8"/>
          <p:cNvSpPr/>
          <p:nvPr/>
        </p:nvSpPr>
        <p:spPr>
          <a:xfrm>
            <a:off x="640080" y="2926080"/>
            <a:ext cx="685800" cy="68580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11" name="Text 9"/>
          <p:cNvSpPr/>
          <p:nvPr/>
        </p:nvSpPr>
        <p:spPr>
          <a:xfrm>
            <a:off x="1508760" y="2907792"/>
            <a:ext cx="9692640" cy="36576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Close the input-efficiency gap</a:t>
            </a:r>
            <a:endParaRPr lang="en-US" sz="1600" dirty="0"/>
          </a:p>
        </p:txBody>
      </p:sp>
      <p:sp>
        <p:nvSpPr>
          <p:cNvPr id="12" name="Text 10"/>
          <p:cNvSpPr/>
          <p:nvPr/>
        </p:nvSpPr>
        <p:spPr>
          <a:xfrm>
            <a:off x="1508760" y="3273552"/>
            <a:ext cx="9692640" cy="548640"/>
          </a:xfrm>
          <a:prstGeom prst="rect">
            <a:avLst/>
          </a:prstGeom>
          <a:noFill/>
          <a:ln/>
        </p:spPr>
        <p:txBody>
          <a:bodyPr wrap="square" rtlCol="0" anchor="t"/>
          <a:lstStyle/>
          <a:p>
            <a:pPr marL="0" indent="0">
              <a:buNone/>
            </a:pPr>
            <a:r>
              <a:rPr lang="en-US" sz="1250" dirty="0">
                <a:solidFill>
                  <a:srgbClr val="CADCE8"/>
                </a:solidFill>
                <a:latin typeface="Calibri" pitchFamily="34" charset="0"/>
                <a:ea typeface="Calibri" pitchFamily="34" charset="-122"/>
                <a:cs typeface="Calibri" pitchFamily="34" charset="-120"/>
              </a:rPr>
              <a:t>The LOD scatter and NPK balance views together flag which states/crops are over-applying nutrients without a yield return — fund the highest-gap cases first.</a:t>
            </a:r>
            <a:endParaRPr lang="en-US" sz="1250" dirty="0"/>
          </a:p>
        </p:txBody>
      </p:sp>
      <p:sp>
        <p:nvSpPr>
          <p:cNvPr id="13" name="Shape 11"/>
          <p:cNvSpPr/>
          <p:nvPr/>
        </p:nvSpPr>
        <p:spPr>
          <a:xfrm>
            <a:off x="640080" y="4160520"/>
            <a:ext cx="685800" cy="685800"/>
          </a:xfrm>
          <a:prstGeom prst="ellipse">
            <a:avLst/>
          </a:prstGeom>
          <a:solidFill>
            <a:srgbClr val="1E3A57"/>
          </a:solidFill>
          <a:ln w="12700">
            <a:solidFill>
              <a:srgbClr val="6B8F42"/>
            </a:solidFill>
            <a:prstDash val="solid"/>
          </a:ln>
        </p:spPr>
      </p:sp>
      <p:sp>
        <p:nvSpPr>
          <p:cNvPr id="14" name="Text 12"/>
          <p:cNvSpPr/>
          <p:nvPr/>
        </p:nvSpPr>
        <p:spPr>
          <a:xfrm>
            <a:off x="640080" y="4160520"/>
            <a:ext cx="685800" cy="68580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15" name="Text 13"/>
          <p:cNvSpPr/>
          <p:nvPr/>
        </p:nvSpPr>
        <p:spPr>
          <a:xfrm>
            <a:off x="1508760" y="4142232"/>
            <a:ext cx="9692640" cy="36576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Treat land allocation as a lever, not a given</a:t>
            </a:r>
            <a:endParaRPr lang="en-US" sz="1600" dirty="0"/>
          </a:p>
        </p:txBody>
      </p:sp>
      <p:sp>
        <p:nvSpPr>
          <p:cNvPr id="16" name="Text 14"/>
          <p:cNvSpPr/>
          <p:nvPr/>
        </p:nvSpPr>
        <p:spPr>
          <a:xfrm>
            <a:off x="1508760" y="4507992"/>
            <a:ext cx="9692640" cy="548640"/>
          </a:xfrm>
          <a:prstGeom prst="rect">
            <a:avLst/>
          </a:prstGeom>
          <a:noFill/>
          <a:ln/>
        </p:spPr>
        <p:txBody>
          <a:bodyPr wrap="square" rtlCol="0" anchor="t"/>
          <a:lstStyle/>
          <a:p>
            <a:pPr marL="0" indent="0">
              <a:buNone/>
            </a:pPr>
            <a:r>
              <a:rPr lang="en-US" sz="1250" dirty="0">
                <a:solidFill>
                  <a:srgbClr val="CADCE8"/>
                </a:solidFill>
                <a:latin typeface="Calibri" pitchFamily="34" charset="0"/>
                <a:ea typeface="Calibri" pitchFamily="34" charset="-122"/>
                <a:cs typeface="Calibri" pitchFamily="34" charset="-120"/>
              </a:rPr>
              <a:t>The treemap and box-plot views together show land isn't always allocated to the highest, most reliable yielders — revisit crop mix in low-yield, high-area blocks.</a:t>
            </a:r>
            <a:endParaRPr lang="en-US" sz="1250" dirty="0"/>
          </a:p>
        </p:txBody>
      </p:sp>
      <p:sp>
        <p:nvSpPr>
          <p:cNvPr id="17" name="Text 15"/>
          <p:cNvSpPr/>
          <p:nvPr/>
        </p:nvSpPr>
        <p:spPr>
          <a:xfrm>
            <a:off x="640080" y="6172200"/>
            <a:ext cx="10789920" cy="365760"/>
          </a:xfrm>
          <a:prstGeom prst="rect">
            <a:avLst/>
          </a:prstGeom>
          <a:noFill/>
          <a:ln/>
        </p:spPr>
        <p:txBody>
          <a:bodyPr wrap="square" rtlCol="0" anchor="ctr"/>
          <a:lstStyle/>
          <a:p>
            <a:pPr marL="0" indent="0">
              <a:buNone/>
            </a:pPr>
            <a:r>
              <a:rPr lang="en-US" sz="1000" i="1" dirty="0">
                <a:solidFill>
                  <a:srgbClr val="7E93A5"/>
                </a:solidFill>
                <a:latin typeface="Calibri" pitchFamily="34" charset="0"/>
                <a:ea typeface="Calibri" pitchFamily="34" charset="-122"/>
                <a:cs typeface="Calibri" pitchFamily="34" charset="-120"/>
              </a:rPr>
              <a:t>Numbers in this deck are illustrative sample data. Swap in a data export or screenshots from the live dashboard for a client-ready version.</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116</TotalTime>
  <Words>1427</Words>
  <Application>Microsoft Office PowerPoint</Application>
  <PresentationFormat>Widescreen</PresentationFormat>
  <Paragraphs>147</Paragraphs>
  <Slides>11</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neha rose</cp:lastModifiedBy>
  <cp:revision>8</cp:revision>
  <dcterms:created xsi:type="dcterms:W3CDTF">2026-09-16T05:18:47Z</dcterms:created>
  <dcterms:modified xsi:type="dcterms:W3CDTF">2026-09-17T16:01:23Z</dcterms:modified>
</cp:coreProperties>
</file>